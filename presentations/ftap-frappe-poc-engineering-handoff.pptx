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12502f39774429" /><Relationship Type="http://schemas.openxmlformats.org/officeDocument/2006/relationships/extended-properties" Target="/docProps/app.xml" Id="Rdb2d2f17c3904b60" /><Relationship Type="http://schemas.openxmlformats.org/officeDocument/2006/relationships/officeDocument" Target="/ppt/presentation.xml" Id="R08b321cd684a42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54a1595fe440c4"/>
  </p:sldMasterIdLst>
  <p:notesMasterIdLst>
    <p:notesMasterId xmlns:r="http://schemas.openxmlformats.org/officeDocument/2006/relationships" r:id="R00413da139a6426f"/>
  </p:notesMasterIdLst>
  <p:sldIdLst>
    <p:sldId xmlns:r="http://schemas.openxmlformats.org/officeDocument/2006/relationships" id="256" r:id="R226ed51384dc4c07"/>
    <p:sldId xmlns:r="http://schemas.openxmlformats.org/officeDocument/2006/relationships" id="257" r:id="Ra4daac7ecac745ed"/>
    <p:sldId xmlns:r="http://schemas.openxmlformats.org/officeDocument/2006/relationships" id="258" r:id="R1177db38b2fd4ee6"/>
    <p:sldId xmlns:r="http://schemas.openxmlformats.org/officeDocument/2006/relationships" id="259" r:id="R463f43882b5f40e4"/>
    <p:sldId xmlns:r="http://schemas.openxmlformats.org/officeDocument/2006/relationships" id="260" r:id="Rcd31cdc75ab14a1b"/>
    <p:sldId xmlns:r="http://schemas.openxmlformats.org/officeDocument/2006/relationships" id="261" r:id="R8511bea2db8d4a59"/>
    <p:sldId xmlns:r="http://schemas.openxmlformats.org/officeDocument/2006/relationships" id="262" r:id="R0c6e9cfba1c14710"/>
    <p:sldId xmlns:r="http://schemas.openxmlformats.org/officeDocument/2006/relationships" id="263" r:id="R7dd7d4338dcb46e3"/>
    <p:sldId xmlns:r="http://schemas.openxmlformats.org/officeDocument/2006/relationships" id="264" r:id="R105ecd251c9b431a"/>
    <p:sldId xmlns:r="http://schemas.openxmlformats.org/officeDocument/2006/relationships" id="265" r:id="Re3b3d1f2cde047a8"/>
    <p:sldId xmlns:r="http://schemas.openxmlformats.org/officeDocument/2006/relationships" id="266" r:id="Reec835148b6b44a6"/>
    <p:sldId xmlns:r="http://schemas.openxmlformats.org/officeDocument/2006/relationships" id="267" r:id="Ra52ee7ed66644c26"/>
    <p:sldId xmlns:r="http://schemas.openxmlformats.org/officeDocument/2006/relationships" id="268" r:id="Re6d7ed4b5ed84641"/>
    <p:sldId xmlns:r="http://schemas.openxmlformats.org/officeDocument/2006/relationships" id="269" r:id="R0ecbbe9f42484d2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4a1595fe440c4" /><Relationship Type="http://schemas.openxmlformats.org/officeDocument/2006/relationships/theme" Target="/ppt/theme/theme1.xml" Id="R01d018b6e3744c33" /><Relationship Type="http://schemas.openxmlformats.org/officeDocument/2006/relationships/notesMaster" Target="/ppt/notesMasters/notesMaster1.xml" Id="R00413da139a6426f" /><Relationship Type="http://schemas.openxmlformats.org/officeDocument/2006/relationships/presProps" Target="/ppt/presProps.xml" Id="R9f609d21d10d45ff" /><Relationship Type="http://schemas.openxmlformats.org/officeDocument/2006/relationships/viewProps" Target="/ppt/viewProps.xml" Id="R209b004de3284201" /><Relationship Type="http://schemas.openxmlformats.org/officeDocument/2006/relationships/tableStyles" Target="/ppt/tableStyles.xml" Id="R4fe97a59c3204bae" /><Relationship Type="http://schemas.openxmlformats.org/officeDocument/2006/relationships/slide" Target="/ppt/slides/slide1.xml" Id="R226ed51384dc4c07" /><Relationship Type="http://schemas.openxmlformats.org/officeDocument/2006/relationships/slide" Target="/ppt/slides/slide2.xml" Id="Ra4daac7ecac745ed" /><Relationship Type="http://schemas.openxmlformats.org/officeDocument/2006/relationships/slide" Target="/ppt/slides/slide3.xml" Id="R1177db38b2fd4ee6" /><Relationship Type="http://schemas.openxmlformats.org/officeDocument/2006/relationships/slide" Target="/ppt/slides/slide4.xml" Id="R463f43882b5f40e4" /><Relationship Type="http://schemas.openxmlformats.org/officeDocument/2006/relationships/slide" Target="/ppt/slides/slide5.xml" Id="Rcd31cdc75ab14a1b" /><Relationship Type="http://schemas.openxmlformats.org/officeDocument/2006/relationships/slide" Target="/ppt/slides/slide6.xml" Id="R8511bea2db8d4a59" /><Relationship Type="http://schemas.openxmlformats.org/officeDocument/2006/relationships/slide" Target="/ppt/slides/slide7.xml" Id="R0c6e9cfba1c14710" /><Relationship Type="http://schemas.openxmlformats.org/officeDocument/2006/relationships/slide" Target="/ppt/slides/slide8.xml" Id="R7dd7d4338dcb46e3" /><Relationship Type="http://schemas.openxmlformats.org/officeDocument/2006/relationships/slide" Target="/ppt/slides/slide9.xml" Id="R105ecd251c9b431a" /><Relationship Type="http://schemas.openxmlformats.org/officeDocument/2006/relationships/slide" Target="/ppt/slides/slide10.xml" Id="Re3b3d1f2cde047a8" /><Relationship Type="http://schemas.openxmlformats.org/officeDocument/2006/relationships/slide" Target="/ppt/slides/slide11.xml" Id="Reec835148b6b44a6" /><Relationship Type="http://schemas.openxmlformats.org/officeDocument/2006/relationships/slide" Target="/ppt/slides/slide12.xml" Id="Ra52ee7ed66644c26" /><Relationship Type="http://schemas.openxmlformats.org/officeDocument/2006/relationships/slide" Target="/ppt/slides/slide13.xml" Id="Re6d7ed4b5ed84641" /><Relationship Type="http://schemas.openxmlformats.org/officeDocument/2006/relationships/slide" Target="/ppt/slides/slide14.xml" Id="R0ecbbe9f42484d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883b49cee240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282fd192804253" /><Relationship Type="http://schemas.openxmlformats.org/officeDocument/2006/relationships/notesMaster" Target="/ppt/notesMasters/notesMaster1.xml" Id="R6bf526eff4394c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46194b44b245db" /><Relationship Type="http://schemas.openxmlformats.org/officeDocument/2006/relationships/notesMaster" Target="/ppt/notesMasters/notesMaster1.xml" Id="Rbc6d9b45a1f843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22d3c17758441e" /><Relationship Type="http://schemas.openxmlformats.org/officeDocument/2006/relationships/notesMaster" Target="/ppt/notesMasters/notesMaster1.xml" Id="R92454c6d09e442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6658aa7bfe4a4a" /><Relationship Type="http://schemas.openxmlformats.org/officeDocument/2006/relationships/notesMaster" Target="/ppt/notesMasters/notesMaster1.xml" Id="R8c0b02ed824e45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81618125424f5e" /><Relationship Type="http://schemas.openxmlformats.org/officeDocument/2006/relationships/notesMaster" Target="/ppt/notesMasters/notesMaster1.xml" Id="Rec43ab59a0814c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73526acfee4a96" /><Relationship Type="http://schemas.openxmlformats.org/officeDocument/2006/relationships/notesMaster" Target="/ppt/notesMasters/notesMaster1.xml" Id="R248288bc355947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3bca8a12824bb4" /><Relationship Type="http://schemas.openxmlformats.org/officeDocument/2006/relationships/notesMaster" Target="/ppt/notesMasters/notesMaster1.xml" Id="Rd22487eac4d34f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3fafbee6fb4aba" /><Relationship Type="http://schemas.openxmlformats.org/officeDocument/2006/relationships/notesMaster" Target="/ppt/notesMasters/notesMaster1.xml" Id="Raeed522c85d341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d555b9bee349ee" /><Relationship Type="http://schemas.openxmlformats.org/officeDocument/2006/relationships/notesMaster" Target="/ppt/notesMasters/notesMaster1.xml" Id="R3e5cb18e7c624b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d4ecb5965e4da3" /><Relationship Type="http://schemas.openxmlformats.org/officeDocument/2006/relationships/notesMaster" Target="/ppt/notesMasters/notesMaster1.xml" Id="Rb5fa375276e145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69280b31e344d6" /><Relationship Type="http://schemas.openxmlformats.org/officeDocument/2006/relationships/notesMaster" Target="/ppt/notesMasters/notesMaster1.xml" Id="R5c91803fe8be44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1e35b1937f429f" /><Relationship Type="http://schemas.openxmlformats.org/officeDocument/2006/relationships/notesMaster" Target="/ppt/notesMasters/notesMaster1.xml" Id="R5b596f67055645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32173888f54f0d" /><Relationship Type="http://schemas.openxmlformats.org/officeDocument/2006/relationships/notesMaster" Target="/ppt/notesMasters/notesMaster1.xml" Id="R00ca559a9ad846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ce6fbd26a64be9" /><Relationship Type="http://schemas.openxmlformats.org/officeDocument/2006/relationships/notesMaster" Target="/ppt/notesMasters/notesMaster1.xml" Id="R2a16fa5f62064f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5c72ed62d444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af26ad19e674aff" /><Relationship Type="http://schemas.openxmlformats.org/officeDocument/2006/relationships/slideLayout" Target="/ppt/slideLayouts/slideLayout2.xml" Id="R65c7c2b33c7441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c7c2b33c7441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4d069f720c491f" /><Relationship Type="http://schemas.openxmlformats.org/officeDocument/2006/relationships/notesSlide" Target="/ppt/notesSlides/notesSlide1.xml" Id="Rac0038fd3b0848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7c7c09816842a2" /><Relationship Type="http://schemas.openxmlformats.org/officeDocument/2006/relationships/notesSlide" Target="/ppt/notesSlides/notesSlide2.xml" Id="Rabdcd74f2e7640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c38450c7274e72" /><Relationship Type="http://schemas.openxmlformats.org/officeDocument/2006/relationships/notesSlide" Target="/ppt/notesSlides/notesSlide3.xml" Id="Rda79d1556e384c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a288d3bc4f4708" /><Relationship Type="http://schemas.openxmlformats.org/officeDocument/2006/relationships/notesSlide" Target="/ppt/notesSlides/notesSlide4.xml" Id="R1b848591a86749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62bb8ff7c54df6" /><Relationship Type="http://schemas.openxmlformats.org/officeDocument/2006/relationships/notesSlide" Target="/ppt/notesSlides/notesSlide5.xml" Id="R3d4ed18998d94b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5f4dfcd92948d8" /><Relationship Type="http://schemas.openxmlformats.org/officeDocument/2006/relationships/notesSlide" Target="/ppt/notesSlides/notesSlide6.xml" Id="R6c0a27d00c3a41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e1c5d71adb41db" /><Relationship Type="http://schemas.openxmlformats.org/officeDocument/2006/relationships/notesSlide" Target="/ppt/notesSlides/notesSlide7.xml" Id="R7ddc779830a54d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c7f9bc6eae43c5" /><Relationship Type="http://schemas.openxmlformats.org/officeDocument/2006/relationships/notesSlide" Target="/ppt/notesSlides/notesSlide8.xml" Id="R420b3692f27e45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ded11bf49c4f8d" /><Relationship Type="http://schemas.openxmlformats.org/officeDocument/2006/relationships/notesSlide" Target="/ppt/notesSlides/notesSlide9.xml" Id="R0326b1c7a3314a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66d63ab1a5437d" /><Relationship Type="http://schemas.openxmlformats.org/officeDocument/2006/relationships/notesSlide" Target="/ppt/notesSlides/notesSlide10.xml" Id="Ra5810f5c098c41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f6d2fb5dbf4e33" /><Relationship Type="http://schemas.openxmlformats.org/officeDocument/2006/relationships/notesSlide" Target="/ppt/notesSlides/notesSlide11.xml" Id="R26a52aad55cd45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871755ef8a45c6" /><Relationship Type="http://schemas.openxmlformats.org/officeDocument/2006/relationships/notesSlide" Target="/ppt/notesSlides/notesSlide12.xml" Id="R2b78adc8b3de45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0424f90edc42a1" /><Relationship Type="http://schemas.openxmlformats.org/officeDocument/2006/relationships/notesSlide" Target="/ppt/notesSlides/notesSlide13.xml" Id="R2abadf3267644e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42d8da726e4b85" /><Relationship Type="http://schemas.openxmlformats.org/officeDocument/2006/relationships/notesSlide" Target="/ppt/notesSlides/notesSlide14.xml" Id="Rad383e5d5a7241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516CA8-D02F-4908-8F10-0144D4D8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1BEA6-83D1-42E5-A2E3-6DE3A71D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720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FRONTIER TOWER ASSOCIATES PHILIPPINES INC. (FTAP)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50495-8D5C-4200-B3CE-5EA41008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685800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Frappe Framework Proof of Concept (POC) Engineering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29446-9258-4606-BB45-4433B07B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5911D-EC5B-4C86-A081-C6FC9DB3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77914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550">
                <a:solidFill>
                  <a:srgbClr val="56677A"/>
                </a:solidFill>
                <a:latin typeface="Aptos"/>
                <a:ea typeface="Aptos"/>
                <a:cs typeface="Aptos"/>
              </a:rPr>
              <a:t>Build context, architecture, workflow, validation gates, integration paths, and continuation backlog for the Frontier Tower Associates Philippines Inc. (FTAP) implementation team.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5E5AE-6A66-430E-A829-93D71F8F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2450"/>
            <a:ext cx="8801100" cy="9182100"/>
          </a:xfrm>
          <a:prstGeom xmlns:a="http://schemas.openxmlformats.org/drawingml/2006/main" prst="roundRect">
            <a:avLst>
              <a:gd name="adj" fmla="val 324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01614-2FFF-4D6D-9A02-B20DB15F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76300"/>
            <a:ext cx="8153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Target operating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70E3F-21A5-4BEE-BCE8-9B9080D9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93520"/>
            <a:ext cx="3762375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D441F-2893-4A85-8A00-AD4F24FE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0307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324FC-B463-479D-B4C4-E2C56F4F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716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E98BC-3484-48AC-B159-6041873E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9545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Alarm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86939-C7B1-46F0-9090-3600AB27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0505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Internet of Things intake.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BE56D-A1FC-45B3-AC92-6CD42F09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485900"/>
            <a:ext cx="32385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A66A2-3701-464F-9F1A-C38DE021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1493520"/>
            <a:ext cx="3762375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DCB78-471B-4F97-BDBB-64A3190C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170307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F9CC9-B8BC-4949-9EBC-1EA1CC24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7716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A5AAC-3038-40BF-A232-6D0B1449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69545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Ticket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6240B-C84E-4938-BDC3-908D199C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30505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Captures alarm identity.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08BEA-C8E3-4B22-B0F6-A3B7248B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55670"/>
            <a:ext cx="3762375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6CD94-E03D-4905-A0F3-A77F7254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6522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97398-0F1C-4CD9-9670-D49AA42E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E6B0C-9884-4087-8893-6B97F3C4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5760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Work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9B36DB-5101-494B-9FF2-E77C9088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6720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Dispatches field work.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432F59-908C-44FC-B576-7F19FC83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448050"/>
            <a:ext cx="32385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F7672-3E48-42C8-A811-4E94F83E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3455670"/>
            <a:ext cx="3762375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9E8629-FBEA-42E6-B19B-6F04701F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66522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13A7B-4D69-434C-ADF1-C08DBB1F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733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2573A7-77EA-486A-B1FC-A256DE9D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65760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6AE10-4FDB-4E19-831E-82702737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26720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Supervisor to head.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E1945A-F2E7-4E3D-8197-20B88807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17820"/>
            <a:ext cx="7620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A2EF64-814A-4F0B-92C3-17FBED28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864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POC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74CD03-E15E-4B38-989E-E5DA817E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410200"/>
            <a:ext cx="7219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One traceable operational record from alarm to closure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1999B-6B44-481F-A6AA-4E776240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427470"/>
            <a:ext cx="2616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003E49-77F3-4FFF-8D4C-928AEC19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572250"/>
            <a:ext cx="2343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ALARM INTAKE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55E7B2-69A1-4FD6-B951-2A21F93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3050" y="6427470"/>
            <a:ext cx="2616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9EB3DB-E5A6-4359-B1FE-B47AC28C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6572250"/>
            <a:ext cx="2343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FIELD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F5DB2F-82AA-4010-A454-85C53998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1650" y="6427470"/>
            <a:ext cx="2616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6B4CE0-EDA1-41F8-B14A-E259349A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6572250"/>
            <a:ext cx="2343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APPROVAL TRAIL</a:t>
            </a:r>
          </a:p>
        </p:txBody>
      </p:sp>
    </p:spTree>
    <p:extLst>
      <p:ext uri="{BB962C8B-B14F-4D97-AF65-F5344CB8AC3E}">
        <p14:creationId xmlns:p14="http://schemas.microsoft.com/office/powerpoint/2010/main" val="422546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6A0468-A357-424F-859D-7F42DE05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206D3-2998-44F4-90F1-DF99F54C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ENVIRONMENT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A5185-B57A-4166-A3AB-BB14DA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01536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There are two valid operating modes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D747D-EC32-4EB7-9E49-F34CFDAE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8493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Use the free Frappe Cloud site for workflow review and the custom app for local or private bench deployment.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AA52D-DD1B-413D-828A-6036956B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0546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03368-39E3-46A9-A6A5-483A5456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714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6AF3C-E01C-4DB7-8D2C-11CA2B82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Free Frappe 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49103-8901-4B41-971D-DED34EE4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428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Public bench for metadata, roles, reports, and REST testing.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4D5B9-2612-453B-BBDE-EE1AA71E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342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8017C-D7A3-4739-83BD-AF644DC8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4210050"/>
            <a:ext cx="50546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11B62-517F-4870-B9EF-96551564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4381500"/>
            <a:ext cx="1714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5ABDE-242F-4F91-A79D-D610FEBB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Git repository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E01B3-361C-4761-8D03-113B3A00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19650"/>
            <a:ext cx="428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Custom app package, fixtures, endpoint, and runbook.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367CD-D1F2-4B0A-90DE-F9F5FC2F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210050"/>
            <a:ext cx="342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4A2E8-942C-43B3-81E9-0227FFD9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4210050"/>
            <a:ext cx="50546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507CA-E366-4AD1-A6D0-5BCBDF5A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6650" y="4381500"/>
            <a:ext cx="1714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7A6CB-260E-470A-BD0D-7A70513C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381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Private bench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FDEE6-72CC-4139-9D75-B3F4EB1E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819650"/>
            <a:ext cx="428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Custom app install, hooks, validation, migration, release flow.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8BBC6-D18B-4778-968A-D1347263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653540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0D7AE-6370-44D2-A7A4-19127340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96000"/>
            <a:ext cx="15887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Repository-to-production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DA025-5B76-42F3-B067-FE53D028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44640"/>
            <a:ext cx="3857625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B166D6-0253-4C8E-8CD6-3190DEE1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5419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59636-9011-42CA-A12F-B1B84239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151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DB5EFA-A742-4727-B090-C9DF608A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0"/>
            <a:ext cx="2590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DocTypes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274874-8605-4CD6-A877-5850F7DE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67600"/>
            <a:ext cx="3409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Ticket, Work Order, Check.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BA32A-E702-412F-B121-D520488A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6644640"/>
            <a:ext cx="3857625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AE8EB2-5781-4011-8563-E9E8C018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5419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5FC17E-C149-4573-BCC5-2B0803A0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9151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A2D55D-5CA5-4829-A19C-F421C7E4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858000"/>
            <a:ext cx="2590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Fixtures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21FC5C-8913-4CDC-8907-6FBF88C9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7467600"/>
            <a:ext cx="3409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Roles, states, actions.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1A80C4-114E-4F68-A659-E8B01F2A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644640"/>
            <a:ext cx="3857625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06015B-F6EB-43B7-B774-B69EC14E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85419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515749-B924-4C55-8761-C0479803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9151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93AB83-1CED-4868-AF17-13FCFDDA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858000"/>
            <a:ext cx="2590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Hooks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6A893F-4433-4ED3-8870-B5F2A909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467600"/>
            <a:ext cx="3409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File evidence sync.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C07DA4-9CC5-4ADB-A044-3DDA9185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6644640"/>
            <a:ext cx="3857625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17DF95-2472-489F-845D-917357A2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685419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CCA6E9-4E50-474F-B266-28A48D39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9151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440C06-E67D-4D21-A39A-D42AB48D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858000"/>
            <a:ext cx="2590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Endpoint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270761-3968-41FC-826B-95F0F088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7467600"/>
            <a:ext cx="3409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Idempotent alarm intake.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BCE6DF-EA2F-44F5-83CD-09947B43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5EB892-B84C-4DD8-B319-892AB513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FREE CLOUD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0F8BFD-65C0-4372-8D23-70CC5667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8116F4-5604-454D-91BE-ADD65C66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GIT REPOSITORY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F58E79-7848-4538-A9D3-CAAA7121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D6F57B-2CC0-4D8B-9BA8-CB8A1A48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PRIVATE BENCH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EAAFA4-34C0-469C-ADE6-CAA350A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43081B-B9DB-4FE6-A646-AFD74940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RUNBOOK</a:t>
            </a:r>
          </a:p>
        </p:txBody>
      </p:sp>
    </p:spTree>
    <p:extLst>
      <p:ext uri="{BB962C8B-B14F-4D97-AF65-F5344CB8AC3E}">
        <p14:creationId xmlns:p14="http://schemas.microsoft.com/office/powerpoint/2010/main" val="16143662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F725DC-562F-4089-BBF9-15F7165B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DFA47-57C7-4D6B-A3D0-A79B2F36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14F6F-BF63-4054-A03B-69EC61A2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5064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Keep the alarm record and field execution record linked one-to-one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BBC97-1A35-4E55-A95B-9B82898B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40589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core proof of concept (POC) starts small, then adds pilot master data when real operations are 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F94B9-72C3-43BA-B98A-2C67FC1E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0546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42DEA-7A39-4A69-ABD6-E2166104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C4D9C-157B-4858-B0E1-E09CDB24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4514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Service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B58B4-272A-461D-9585-1F63CA73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4514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alarm_id, source, type, priority, site, device,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2C8FE-26A2-420E-B7FB-720E5A56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10050"/>
            <a:ext cx="4572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8F304-84CA-4D7B-AD1D-3EE5655D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4210050"/>
            <a:ext cx="50546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D2F0C-0C1F-465D-B70D-DE0F138B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815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8"/>
          </a:solidFill>
          <a:ln xmlns:a="http://schemas.openxmlformats.org/drawingml/2006/main" w="0">
            <a:solidFill>
              <a:srgbClr val="2EAD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40124-C7DA-447E-B5FA-3F9CF8C1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14850"/>
            <a:ext cx="4514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Work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BAEBC-17C1-48AB-8468-79168DC2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33950"/>
            <a:ext cx="4514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assignment, workflow state, field report, approvals, evidence count.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A91E1-7D62-4FC4-915B-D7A3D443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10050"/>
            <a:ext cx="4572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3450B-A47E-402E-AB16-ACF7E73E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4210050"/>
            <a:ext cx="50546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2A03A-09EF-4DD3-B8CF-DBA02229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3815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D"/>
          </a:solidFill>
          <a:ln xmlns:a="http://schemas.openxmlformats.org/drawingml/2006/main" w="0">
            <a:solidFill>
              <a:srgbClr val="F2B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0029A-401B-46D0-9E6D-1782F064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514850"/>
            <a:ext cx="4514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Inspection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BCA26-5E0D-4948-8028-24D517C4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933950"/>
            <a:ext cx="4514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check item, expected value, result, measured value, notes.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506F0-02EF-4819-A873-4E33F27B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72350"/>
            <a:ext cx="53975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7944D-8AB6-471D-B8B6-B121D15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543800"/>
            <a:ext cx="1714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C01AD-9B92-4D42-854D-E98820D7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43800"/>
            <a:ext cx="4629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File attachments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A8F9E-8E47-4524-805F-237301F9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981950"/>
            <a:ext cx="462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private photo evidence attached to work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E6EED-02CB-4902-8EFD-DC347EF8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7372350"/>
            <a:ext cx="53975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CE80F-4152-410D-A939-C4C68A6C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7543800"/>
            <a:ext cx="1714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1D0F22-3F32-4AE9-AAF3-F067BB4D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543800"/>
            <a:ext cx="4629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Workflow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52C9B1-1C6B-4301-99FF-BB8F2BD5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981950"/>
            <a:ext cx="462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approval and rejection 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05205-9BDC-4712-81CC-7D6D2F8F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4200" y="7372350"/>
            <a:ext cx="53975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57E29B-8AEA-4EBB-97DE-59FDACC8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750" y="7543800"/>
            <a:ext cx="1714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0F2D59-E2A4-42D2-8718-637A31E8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543800"/>
            <a:ext cx="4629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Pilot masters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743DFC-B46E-4596-8B70-C5D31B85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981950"/>
            <a:ext cx="462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site, device, alarm type, checklist template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1C14E5-FD82-4FC3-AE51-4D41BBB0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69D3F1-442C-4B03-8581-A2CA9206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TICKET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5AB4B4-38C1-4FF5-8F75-76877C91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E86BA9-8EF9-4889-9717-AE073AD0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WORK ORDER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C4538A-7DF8-4569-9D1C-E029F949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FDC257-AA06-4957-9455-097A1D62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CHECKLIST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EBC737-4120-4596-A2B0-6001AF76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009F44-2B03-4B63-93B8-F16152C4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FILES</a:t>
            </a:r>
          </a:p>
        </p:txBody>
      </p:sp>
    </p:spTree>
    <p:extLst>
      <p:ext uri="{BB962C8B-B14F-4D97-AF65-F5344CB8AC3E}">
        <p14:creationId xmlns:p14="http://schemas.microsoft.com/office/powerpoint/2010/main" val="1792427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DB6F53-B4A3-4935-A4D4-DFB41D97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3AF2E-406C-40CC-B4E5-2B9CF3D3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RECORD LIFECYCLE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5871F-83C6-4141-B834-F930A340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40398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same records move through intake, field work, approval, and reporting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77654-A621-4AAD-851C-85E21682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2969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Each stage updates linked Frappe Framework documents instead of copying context between systems.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50535-5575-41C1-8B1D-37D1304B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6C373-37F8-481E-95E3-B4B2B687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4F9C5-FA3A-4913-9BEA-C945BEA8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6B101-2176-4437-9ACC-63C3921E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5770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Service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DB86C-CE1F-42F9-9552-DBF6E27B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Alarm identity.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582DC-9BF3-473E-B6AE-FF8E777A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361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E3327-7F6F-4C70-B344-D500CD4B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E783A-7F02-4F02-A6BB-3E8D3B1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577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74ACA-B4C9-4F0B-AFA4-FC61D983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339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53B1F-A73B-4845-AD0E-2BC19015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5770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Work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5D863-8451-4D76-96B6-12812A65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2445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Field execution.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185ED-3D7D-454C-B74C-2DA44B1C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210050"/>
            <a:ext cx="361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F56A7-F49B-4301-809A-18D5FA31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21005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000EE-ED97-4979-9B64-0850CC8A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4577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E7C95-0B8B-4F0A-BFEA-2C2F2377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5339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0233E-CE5F-4F1E-89FE-1A5E3273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45770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C19C4-439F-4734-943A-6310E30C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12445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Checks and photos.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11920-C084-4F9F-B8F5-E443B0CF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3890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15D60A-2ACA-4038-A306-3C69BFBD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8655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3F7785-03B8-4229-97F6-BF5CF47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6275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18E7F-80C8-4B49-8289-8D687875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68655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E9EF9D-3F62-4532-8B59-DE38D34D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35330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Approval actions.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EAB816-8D09-4FF3-99B9-068178C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361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3845FC-EC7B-436A-96CE-5CC4E2AA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43890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2DF659-98CD-48B0-8FD4-5025232B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68655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6214B-0F41-45E3-8D98-D87900A1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76275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66353D-A587-4775-8F1E-4ADACCFC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68655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Reports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F41CD7-017D-4503-B144-2F1F0D5C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735330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Queues and aging.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B4DF9A-F22B-42E9-AE76-EA7F9604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6438900"/>
            <a:ext cx="361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6D3564-DAFF-4D4A-BD14-16C5FD94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43890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0EFD2C-51CB-45DA-93B2-0EDED588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68655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86BDDF-6622-421C-8E00-EE759591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76275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0C4684-72E7-4CB1-A849-F1B1F227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68655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Closure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F2942F-D853-4907-AB9D-246D73D3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35330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Ticket resolved.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5B31FB-CC11-48F9-A6D1-C8F6CE96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667750"/>
            <a:ext cx="5410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E2F859-99B1-4438-8810-6C0C60FA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82015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LINKED RECORDS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47EC18-B8A2-4D39-80AC-E839000D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8667750"/>
            <a:ext cx="5410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14B72A-48FF-456E-8F92-FF4DDEB7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82015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EVIDENCE STATE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83FB7D-8FB1-48A7-8177-25DF26A5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667750"/>
            <a:ext cx="5410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58BF70-5910-48A8-AC56-CE456604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882015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APPROVAL HISTORY</a:t>
            </a:r>
          </a:p>
        </p:txBody>
      </p:sp>
    </p:spTree>
    <p:extLst>
      <p:ext uri="{BB962C8B-B14F-4D97-AF65-F5344CB8AC3E}">
        <p14:creationId xmlns:p14="http://schemas.microsoft.com/office/powerpoint/2010/main" val="5452744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031956-6A11-40B0-8D3C-1DDB73EC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E6B20-E6EB-4A60-831B-C377A90C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WORKFLOW STATE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26F24-1C53-47C3-A163-963D2749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41351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Every approval state has an owner and a correction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0883F-1E74-4FBB-84BF-B58CC5AA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5064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Rejection always routes back to In Field so the technician fixes the report inside the same work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AE95E-B87B-43C4-B02E-980641FA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0673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DC792-7EA1-4CE4-A68F-95276836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7167A-A8FA-4CDE-ABC3-50571DB4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AC1AA-46D5-4D0E-8E56-C7D4EE75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5658F-DBA8-4322-81E1-1B087CA2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Dispatcher owns initial work order.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C2D6A-98C7-4D81-950B-85C3D9CD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4000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F098B-93E4-4850-BC80-F2841B46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50673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14AB2-EF85-43C1-A862-E6E7E06B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F975C-1952-4A51-8F13-48D85B70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6D2E5-C509-4B82-BCA0-6EE0B6DC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196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Dispatched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7B7F0-D74E-4BDE-BFAB-86A615FD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292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Technician is assigned.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9D6E2-4635-4BC0-A297-CC9AA904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210050"/>
            <a:ext cx="4000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AE3DC-9358-4BC2-9C12-972A3A0C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210050"/>
            <a:ext cx="50673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B21A6-55C1-4C80-909D-DD337FF9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B48C3-FEA7-46AB-AFC4-61521E49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25BEC-5243-4216-93F9-4E4FF373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44196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In Field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4B279-4FC1-4A1C-9BD9-317D4395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0292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Technician performs checks.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058B3-4807-4FB3-9E36-D49F5446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50673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65128-19B2-4A0E-AE89-8E22768B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3627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E11DF-B67C-46D5-ADFF-662098F6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7028F-AFBF-406C-9C37-B2E6FD53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3627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Submitted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8D88D-B54D-478C-9BC4-3772A13A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9723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Supervisor validates report.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3EE65-EA5A-4AED-9ADF-978E009B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153150"/>
            <a:ext cx="4000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04F403-5039-4641-AE2B-68A253C7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53150"/>
            <a:ext cx="50673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F265A-286B-4D7C-9F22-412A5E12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3627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D102C9-E9ED-4948-BBF0-40E019A7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389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F8FF19-2AC4-48CC-A3EC-AA39D7B2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3627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Manager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2AF874-0217-4FD6-A596-0B504880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9723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Manager approves completion.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EA65A9-3475-4723-9C08-B4A0D92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153150"/>
            <a:ext cx="4000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FCF4F8-0E20-4E7D-B261-D80E8B5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153150"/>
            <a:ext cx="50673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0DDE9F-2AB2-4B56-92FC-CA2C43C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3627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14308B-3D39-4C3D-9028-7ED8DE6D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4389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8B2971-502D-4561-9E85-9D57F446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63627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Head Approved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7DD6C-2BB4-4DAD-97E1-E0FC6BDD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9723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Final approval closes path.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6B3E5D-1F41-4CB0-BA68-5064B06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096250"/>
            <a:ext cx="165354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FAD80A-B406-4D30-903C-362F34D1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267700"/>
            <a:ext cx="1714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A5A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2739D3-B5AA-4F1E-A0BF-37F0DB9A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267700"/>
            <a:ext cx="15773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Controlled correction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F6FF83-C126-4F1D-96CB-8F798429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705850"/>
            <a:ext cx="1577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Supervisor, manager, and department head rejections return to In Field.</a:t>
            </a:r>
          </a:p>
        </p:txBody>
      </p:sp>
    </p:spTree>
    <p:extLst>
      <p:ext uri="{BB962C8B-B14F-4D97-AF65-F5344CB8AC3E}">
        <p14:creationId xmlns:p14="http://schemas.microsoft.com/office/powerpoint/2010/main" val="16448535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64E2FD-54C3-474F-88F2-8BE35436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F8F71-EE9E-49E1-B1D1-4E4589D5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FREE CLOUD REST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9B5D4-D691-444E-86CD-FF8593D3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8684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public bench uses standard resources because custom app code is not installed there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CD105-817A-464B-BA9C-B9FCEEDA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20586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integration adapter owns idempotency before creating records on the free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D22E5-989D-4769-ABD9-2A1DE78F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633788" cy="3714750"/>
          </a:xfrm>
          <a:prstGeom xmlns:a="http://schemas.openxmlformats.org/drawingml/2006/main" prst="roundRect">
            <a:avLst>
              <a:gd name="adj" fmla="val 57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824AA-34B5-483F-9D50-E362A7F5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6ABFF-74CC-446A-8C59-F25B9938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72202-9DE4-40E9-A2B2-CC8B5A82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2362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Find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4BD46-3228-4306-BCA0-3B7F7D61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31813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GET by alarm_id before create; prevent duplicates. Output: reuse or create.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75FF1-2932-4728-966A-A284C7D5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32385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FF50B-3D49-4796-AB8E-2BE4C797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4210050"/>
            <a:ext cx="3633788" cy="3714750"/>
          </a:xfrm>
          <a:prstGeom xmlns:a="http://schemas.openxmlformats.org/drawingml/2006/main" prst="roundRect">
            <a:avLst>
              <a:gd name="adj" fmla="val 57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88FB9-E699-4219-B001-BE19D8E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96542-D576-4BF7-8DBB-2F3AE9EF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94EA2-3D4D-4395-B1C4-9BBD2E39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19600"/>
            <a:ext cx="2362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POST ticket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4B6BC-BE85-479F-9174-13FF4803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29200"/>
            <a:ext cx="31813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Create Service Ticket with source, priority, and device. Output: ticket name.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5B774-7EBA-4262-BA4B-69245022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0050"/>
            <a:ext cx="32385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35420-64BD-4EB7-88B1-461B9ACE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10050"/>
            <a:ext cx="3633788" cy="3714750"/>
          </a:xfrm>
          <a:prstGeom xmlns:a="http://schemas.openxmlformats.org/drawingml/2006/main" prst="roundRect">
            <a:avLst>
              <a:gd name="adj" fmla="val 57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89F2B-939C-4793-A03F-1E3E753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0E6E8-23E1-4800-B626-E5F2B55B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F51DE-3A50-4809-A7F4-E60498A8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419600"/>
            <a:ext cx="2362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POST work 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E61AA-738F-4871-958C-9E5EBF7F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29200"/>
            <a:ext cx="31813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Create linked Work Order for dispatch and field execution. Output: work order name.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27120-DC45-4B19-9111-0AA36CE6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4210050"/>
            <a:ext cx="32385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BCDFF-35A4-409E-A4FD-996A8FF4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7913" y="4210050"/>
            <a:ext cx="3633788" cy="3714750"/>
          </a:xfrm>
          <a:prstGeom xmlns:a="http://schemas.openxmlformats.org/drawingml/2006/main" prst="roundRect">
            <a:avLst>
              <a:gd name="adj" fmla="val 57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B9CF9-4CB2-448F-8BF9-1592C873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513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C7B441-7018-4DAB-9C37-A0B71197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20F42-BAE6-4CCB-81C2-65387B09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4419600"/>
            <a:ext cx="2362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Upload photos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975B08-75B7-480D-8715-8F190922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5029200"/>
            <a:ext cx="31813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Attach private files to the work-order evidence trail. Output: evidence count.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C45F88-D164-4536-AD24-958FBE23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10650"/>
            <a:ext cx="5410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3F6D7-F38E-4291-8F7D-F236FFE4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16305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STANDARD REST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56091D-ED1B-4910-851D-497C79BB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9010650"/>
            <a:ext cx="5410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39F47E-1141-4E2D-81A8-2D1BE8AB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16305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IDEMPOTENCY IN ADAPTER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BA725C-964F-49A7-9A60-EA38F9F5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9010650"/>
            <a:ext cx="5410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1F7BA5-4059-4E1F-99CB-D8A34653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9163050"/>
            <a:ext cx="514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PRIVATE FILES</a:t>
            </a:r>
          </a:p>
        </p:txBody>
      </p:sp>
    </p:spTree>
    <p:extLst>
      <p:ext uri="{BB962C8B-B14F-4D97-AF65-F5344CB8AC3E}">
        <p14:creationId xmlns:p14="http://schemas.microsoft.com/office/powerpoint/2010/main" val="18414626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F15FA7-E7A8-41FB-B8AD-3680BC7E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E9CD0-DA91-40DF-8853-EC087375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CUSTOM ENDPOINT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24D0E-3738-43B6-AC3F-CAFC5B9B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43446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private bench centralizes alarm intake and retry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42D86-8016-493F-8D01-FFCF84C2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4001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create_ticket_from_alarm returns the same ticket and work order for duplicate alarms and repairs missing links after partial writes.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0C039-0A59-493E-820B-2E941396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FBE71-A772-4508-BF39-5D7E14AD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C2EE4-2C29-4DFE-A502-BF4267F6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0050"/>
            <a:ext cx="7296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Required 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FF71C-6407-4C40-99AE-ED0398C6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729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alarm_id, device_id, and alarm_type are mandatory.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C4C45-1718-4361-B542-486A3D90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873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1486C-6D1B-4AC1-A9D8-D57C7330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10504-6387-4A2C-AD00-A64EEC2D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86350"/>
            <a:ext cx="7296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Payload coercion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91C53-CCBA-4EE4-BC75-A2CB81CD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86400"/>
            <a:ext cx="729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JSON strings and keyword arguments resolve into one object.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9EA74-87E0-43CE-8EA8-312FB322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741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FFBFD-CE44-451A-8012-71E8BD45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61E55-624F-423B-AB0C-63CB21FC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43600"/>
            <a:ext cx="7296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Duplicate protection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A4B24-A75F-48EB-8BD2-85133040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362700"/>
            <a:ext cx="729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Existing alarm_id returns existing records.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9C9A4-FE67-4A32-9783-D6D8FCB3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1609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13EBF-62E7-4AAE-94DE-CC4DC4CC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770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B9FB2-36E9-45BB-9768-82F69F08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819900"/>
            <a:ext cx="7296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Partial 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95387-5F14-4001-A415-8C44903C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219950"/>
            <a:ext cx="729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Missing work order link is created or repaired.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BCDE64-6101-4615-ADC9-8531E8CE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10050"/>
            <a:ext cx="8067675" cy="552450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C43F2-E322-41AA-9DCF-5C09206A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33900"/>
            <a:ext cx="742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Endpoint 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DB7EC-1CAB-420F-BE09-38C4BE98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193030"/>
            <a:ext cx="74199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AA5EB-309A-4BD3-9CAA-E0F91AFE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364480"/>
            <a:ext cx="1714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F46FEB-A4A3-493C-8B09-F9658C32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372100"/>
            <a:ext cx="666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8DFBB0-0856-4D12-900A-90117DE9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81025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alarm_id, device_id, alarm_type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ECCD35-8F4D-4D9D-A206-A7D80237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678930"/>
            <a:ext cx="74199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D3ADBE-B1C0-4AE0-9737-1577DB7E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6850380"/>
            <a:ext cx="1714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568EF6-8284-4444-88C7-6C5B9899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858000"/>
            <a:ext cx="666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Processing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234555-1479-4627-BBB7-CC89DF08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29615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find, create, repair links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A201C-0572-4431-98B6-77BEBB78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164830"/>
            <a:ext cx="74199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B5AF61-E217-4CE7-AB14-4A8AC107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8336280"/>
            <a:ext cx="1714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562DFA-2068-4E03-923A-3E7B491F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8343900"/>
            <a:ext cx="666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EBF5D0-57C9-4401-9C3F-562CB80A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878205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{ ticket, work_order, created }</a:t>
            </a:r>
          </a:p>
        </p:txBody>
      </p:sp>
    </p:spTree>
    <p:extLst>
      <p:ext uri="{BB962C8B-B14F-4D97-AF65-F5344CB8AC3E}">
        <p14:creationId xmlns:p14="http://schemas.microsoft.com/office/powerpoint/2010/main" val="8427790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4D4F0D-FB6B-4B84-836C-4AFB9D18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D8019-525A-4CF9-966C-7A310742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RETRY DECISION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C3109-B2E4-4040-B057-61C876B4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18110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Duplicate alarms and partial writes resolve deterministically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3A859-6697-4966-987D-434E2EA1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8112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private endpoint keeps Internet of Things replay behavior from creating duplicate field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64999-DCAB-497C-9D1B-B7652ED6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6677025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F2B6B-91F6-45FF-9062-591EB427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41195-C8A6-4FA9-BCB4-F6EAEAF1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8830B-F25D-4A9C-820D-236F78F0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5410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Receive alarm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5DDAC-6556-4D5D-A1D3-15F815C2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6229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Parse payload into one object.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83E69-135E-4350-9D1D-9BEAA737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10050"/>
            <a:ext cx="3238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4D1F0-9942-4DA6-909E-FB2738D6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10050"/>
            <a:ext cx="20002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48E16-4619-4C42-A3E1-2E96676C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0"/>
            <a:ext cx="16573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Required fields present?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C3020-0BE8-4CD9-86C3-0156D5CE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10050"/>
            <a:ext cx="3238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4F139-4281-49ED-88E8-E0DA4E30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4210050"/>
            <a:ext cx="6677025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58BCC-76DD-4C87-A25F-9C30A6D0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DE5C7-D497-4159-8EEB-5F124382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28566-44D6-4BD2-9DC1-14A02AD0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419600"/>
            <a:ext cx="5410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Find alarm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B3E81-0364-4C4F-B4B0-0BF8E072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029200"/>
            <a:ext cx="6229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Search existing service ticket.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0A250-0CA0-40A8-8CE1-A386817E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20002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05BC5-1890-4462-8D8D-305FB833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67450"/>
            <a:ext cx="16573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Ticket exists?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21E40-02CD-4632-B48F-DE3428FA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096000"/>
            <a:ext cx="3238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8F611-643A-49AA-971A-C1EE89B4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96000"/>
            <a:ext cx="1135380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0FE77-9816-48E2-9E27-A2F949C4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30555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A23D1B-27C7-4EF8-998B-805483BB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3817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03A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3124D1-3D0D-4A5E-AC20-512702A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305550"/>
            <a:ext cx="10077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Return existing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59ECD-927A-4790-9086-4627FF95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915150"/>
            <a:ext cx="10896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Same ticket and work order.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64D12-D4DF-4F02-83B5-8CF4B40D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6096000"/>
            <a:ext cx="3238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F7844F-C954-475A-9ED3-F678D63F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6096000"/>
            <a:ext cx="20002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846470-2D1A-4E8B-8278-2B0AB37E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6267450"/>
            <a:ext cx="16573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Work order link missing?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98C420-3222-4C79-AAFB-FE62B78A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81950"/>
            <a:ext cx="511810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1CAD28-D9D2-4185-BAE3-B248AD9F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1915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39D790-C6ED-40E0-93D6-CB34AF55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2677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03B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58390C-B50D-41F9-BB38-6ED0307B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8191500"/>
            <a:ext cx="3848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Create records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788709-EA90-447D-ACF7-FF1F087B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80110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Create ticket, work order, links.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841E29-1C8F-4159-87E0-A2FE1369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7981950"/>
            <a:ext cx="3238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4C3AC6-47FE-450D-8EA2-824166BC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7981950"/>
            <a:ext cx="511810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D4FEF6-0A75-4409-A666-34E5AABC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0" y="81915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34E9BF-44E2-4A2A-B5DB-82A0B59E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2677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511942-5647-4109-AB1E-883B3817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8191500"/>
            <a:ext cx="3848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Repair link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B4C30A-595E-4714-8EBE-CDF0CA59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80110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Create missing work order safely.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9112D7-CA5B-4CB1-9151-40EB9FB0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7981950"/>
            <a:ext cx="3238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CB5107-F14D-49D7-B524-BE6829FC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600" y="7981950"/>
            <a:ext cx="511810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9A2256-087F-4E66-AF8B-17CAF423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2200" y="81915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A7A3AB-23F8-4B0E-B22D-1BE19A0F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82677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9E5731-A5FE-48A7-A029-5364F254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91500"/>
            <a:ext cx="3848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Return response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FC4634-EEDD-4FFD-AF06-DFEC2687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880110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{ ticket, work_order, created }</a:t>
            </a:r>
          </a:p>
        </p:txBody>
      </p:sp>
    </p:spTree>
    <p:extLst>
      <p:ext uri="{BB962C8B-B14F-4D97-AF65-F5344CB8AC3E}">
        <p14:creationId xmlns:p14="http://schemas.microsoft.com/office/powerpoint/2010/main" val="15585449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162FF-E4E7-4B3F-9EC4-668EECF3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77A18-7C62-4DDA-9A3B-32FE2528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VALIDATION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013D0-8318-40EB-9A0D-A22E22F6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3159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Approval cannot proceed until the field report is operationally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74F2E-B079-4B9E-AF3B-BEB4B774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1254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These checks stay server-side so mobile or desk shortcuts cannot bypass minimum evidence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01BAF-6330-42C6-BF5D-5FA02F22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334000" cy="1771650"/>
          </a:xfrm>
          <a:prstGeom xmlns:a="http://schemas.openxmlformats.org/drawingml/2006/main" prst="roundRect">
            <a:avLst>
              <a:gd name="adj" fmla="val 118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9BF12-4011-4517-B5D7-C31991C6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7"/>
          </a:solidFill>
          <a:ln xmlns:a="http://schemas.openxmlformats.org/drawingml/2006/main" w="0">
            <a:solidFill>
              <a:srgbClr val="2474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C4DD5-1D5E-4779-9756-C1B43D3C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Assignment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387D2-B653-4D76-80E0-46032F7B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Non-open states require Assigned Technician.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1B3A4-962B-42DA-A18C-982B938C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5334000" cy="1771650"/>
          </a:xfrm>
          <a:prstGeom xmlns:a="http://schemas.openxmlformats.org/drawingml/2006/main" prst="roundRect">
            <a:avLst>
              <a:gd name="adj" fmla="val 118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49B55-1C1F-4411-91F4-BD46F14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8"/>
          </a:solidFill>
          <a:ln xmlns:a="http://schemas.openxmlformats.org/drawingml/2006/main" w="0">
            <a:solidFill>
              <a:srgbClr val="2EAD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6AF1E-077D-4044-9AF1-0941BE26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Field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7F87D-F625-4254-B687-6C0519C9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4800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Arrival, completion, checklist, notes, recommendation.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70427-A227-43BA-9281-D285A810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210050"/>
            <a:ext cx="5334000" cy="1771650"/>
          </a:xfrm>
          <a:prstGeom xmlns:a="http://schemas.openxmlformats.org/drawingml/2006/main" prst="roundRect">
            <a:avLst>
              <a:gd name="adj" fmla="val 118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8B5DD-DF67-4924-8F7C-F42CE9C6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3815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D"/>
          </a:solidFill>
          <a:ln xmlns:a="http://schemas.openxmlformats.org/drawingml/2006/main" w="0">
            <a:solidFill>
              <a:srgbClr val="F2B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4323F-324C-4981-8385-A89EB44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51485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Photo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5DB14-4BD9-4642-8BA0-9EA858BC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933950"/>
            <a:ext cx="4800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At least one attached work-order file before approval.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2798E-1588-454C-9680-0638CF1F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29400"/>
            <a:ext cx="5334000" cy="1771650"/>
          </a:xfrm>
          <a:prstGeom xmlns:a="http://schemas.openxmlformats.org/drawingml/2006/main" prst="roundRect">
            <a:avLst>
              <a:gd name="adj" fmla="val 118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242C2-746C-4E94-8B91-F11F7A74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0085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6C7"/>
          </a:solidFill>
          <a:ln xmlns:a="http://schemas.openxmlformats.org/drawingml/2006/main" w="0">
            <a:solidFill>
              <a:srgbClr val="6656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6F6DF-F75F-4DA1-A606-8C00F535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Timestamp 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AF849-61BC-4663-A08E-7A2400D6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35330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Completion time must not precede arrival.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53043-582F-4B54-A518-4CDC50D6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629400"/>
            <a:ext cx="5334000" cy="1771650"/>
          </a:xfrm>
          <a:prstGeom xmlns:a="http://schemas.openxmlformats.org/drawingml/2006/main" prst="roundRect">
            <a:avLst>
              <a:gd name="adj" fmla="val 118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27B7C-9CDD-4A71-B33C-EE69AA54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80085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BEDBBC-1066-4D36-B457-31F99B02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93420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Ticket sync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3CB41-E1CC-468C-A7C4-101F44EC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353300"/>
            <a:ext cx="480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Work-order updates sync ticket status and link.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BC1800-C313-435B-9099-3C13721B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629400"/>
            <a:ext cx="5334000" cy="1771650"/>
          </a:xfrm>
          <a:prstGeom xmlns:a="http://schemas.openxmlformats.org/drawingml/2006/main" prst="roundRect">
            <a:avLst>
              <a:gd name="adj" fmla="val 118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DA211-9A83-47BF-9D1C-146FA087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80085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7"/>
          </a:solidFill>
          <a:ln xmlns:a="http://schemas.openxmlformats.org/drawingml/2006/main" w="0">
            <a:solidFill>
              <a:srgbClr val="2474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F1BA2-4E80-4061-98C0-1BAE3E54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93420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File hook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14E268-CE38-4A7A-9D8B-CCC12848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353300"/>
            <a:ext cx="4800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Attachment insert/delete refreshes evidence count.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B80DC3-9C89-4AC3-A35D-602DEB95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CA099E-049F-427F-BE23-E1DDDF09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ASSIGNMENT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20D121-E458-4824-B73D-7592ABD4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2BEF42-DC4A-4612-A396-426A5B0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FIELD 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C6ABEF-8608-43AC-A521-4AE80803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D95F11-2E95-4840-8216-EE5DEB6E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PHOTO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2F6AB3-615E-4E6C-ADA1-9EFB70C4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3C64B0-C853-44B8-A2AA-AF4E14C1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TICKET SYNC</a:t>
            </a:r>
          </a:p>
        </p:txBody>
      </p:sp>
    </p:spTree>
    <p:extLst>
      <p:ext uri="{BB962C8B-B14F-4D97-AF65-F5344CB8AC3E}">
        <p14:creationId xmlns:p14="http://schemas.microsoft.com/office/powerpoint/2010/main" val="19816852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644C8A-4F91-4C3E-9975-101B5A3A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FB4E1-E6D9-42BD-99F7-1195A247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EVIDENCE SYNC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8237B-1D44-45D4-940D-FB309948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6398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File attachments update the work-order evidence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9ED60-323C-442F-955E-63371ABA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8684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This keeps supervisor review, reports, and approval gates aligned with the actual photo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2065E-3A75-4A4F-958D-A4657AD7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04999-BBB5-4FA1-B09C-A6DF7535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22D36-8FEF-46FC-9609-AEC092CC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D09EE-E3DC-47E7-AC9C-F0EAD1D9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5770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Photo added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9F3A8-433E-4CFF-9919-95492959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Technician uploads.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FB75E-7D15-4403-A2CA-8E4010D6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361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B80F6-A0C7-46EF-857E-D913152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B368F-033E-49B6-8B26-02B66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577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69045-9564-43E2-ACCB-1FBD0622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339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6C340-BAD8-48A6-ADD9-36A68334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5770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File hook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A6409-0E0E-44CC-8B63-F4AFCDD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2445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Refresh count.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3A9EF-F814-45FB-9CBC-0F8C80A2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210050"/>
            <a:ext cx="361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1BB7D-3466-4375-8371-4BF23BFF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21005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8B766-7DE2-451E-9E0A-82FB2636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4577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B88DC-1DD8-4B66-8889-F2EE737F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5339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85463-41FC-4E6B-BF1E-B8C104E1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45770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Work 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48158-93B0-4810-86CD-61579E2B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12445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Evidence ready.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2A4B8-792B-485F-AB05-902DF008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3890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25EF7-2F13-4CE3-98F5-541DBF7D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8655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539B2-4E8D-4D7A-8F19-427B3916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6275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7C71C-44DE-43DE-A6EB-8F8DBCB8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68655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F3359-B315-48F3-8769-B854936A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35330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Blocks empty proof.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06DDE-381B-4132-A654-D4F7B267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361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640B62-A902-430E-882B-33266102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43890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A67829-A432-461C-AD29-8A0CDDFF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68655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9AE406-0081-4A05-9611-C6D36AD3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76275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47E092-54EF-4829-BDD2-24AED55F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68655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D6E3B9-80AF-4EC4-B371-5F637CDB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735330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Supervisor checks.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C5723C-10C5-4909-8CBA-625B80EB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6438900"/>
            <a:ext cx="361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593E06-10DA-43C3-899A-200446DA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438900"/>
            <a:ext cx="50673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7F0C0B-09DD-4201-9F87-17E8EE54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68655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A5A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CFEE16-6FDD-4DDE-8ADB-EC6EEBC8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76275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240A05-508F-494B-9D14-5839E464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68655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Report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0306A3-BE9B-4E49-9811-FD84B2CA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353300"/>
            <a:ext cx="453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Shows gaps.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4BAE44-F5FE-4D84-A845-9BDD557D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6677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D108E5-51CF-47E0-84AC-4DD253D8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8201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FILE HOOK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70CF93-66AF-4A52-9264-85E45CD6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6677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25B73F-CC5A-4F5D-8D80-EA462C13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88201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EVIDENCE COUNT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E921E1-DA53-4172-8FC8-CAA78B6A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6677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701B6F-B60B-4452-93A6-DF91732A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8201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APPROVAL BLOCK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08EBAA-F1A5-4EF8-A21D-FCB3C5EA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6677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2DE8D0-CC8E-4DAD-B6A7-3332D37F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8201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REPORT GAP</a:t>
            </a:r>
          </a:p>
        </p:txBody>
      </p:sp>
    </p:spTree>
    <p:extLst>
      <p:ext uri="{BB962C8B-B14F-4D97-AF65-F5344CB8AC3E}">
        <p14:creationId xmlns:p14="http://schemas.microsoft.com/office/powerpoint/2010/main" val="18590772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571B0-0F2B-4276-A3A0-5EE5A1DD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2DD21-7BB9-4CFD-A06C-78369818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EDGE-CASE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28359-F494-4638-A68B-B9EFDE4C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25539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Highest-risk scenarios stay visible during pilot hardening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F5905-307C-4DAE-8782-705A95BA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09728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runbook carries the full matrix; this slide keeps the execution focus clear.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89563-A02C-4093-A775-73CE47B1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62A4E-3635-4031-8CA8-909CD5C4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5D1AE-FD64-4403-9AA3-E02F097D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0050"/>
            <a:ext cx="7277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Alarm retries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BBE87-9715-4918-87CC-BDD156D6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Same alarm ID, timeout replay, partial write recovery.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2C923-4162-47F0-9C32-B88CBC57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A653E-B162-4B5C-A06F-08255470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862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A29D7-0951-4A4F-9423-C92C4E90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10050"/>
            <a:ext cx="7277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Missing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1DCFD-C027-40A0-B0C8-8F3EA53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6291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No checklist, notes, photos, or valid timestamps.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B6300-BB18-4AF1-BDB9-9D76868E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867EC-3761-40A8-835B-E07F18ED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A2707-24F7-4749-B006-CA2C5EC8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10250"/>
            <a:ext cx="7277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Approval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F07F7-4FD6-460B-B608-86D97E1E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2293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Wrong role, rejection loop, unavailable approver.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7E3B5-0C38-4809-8A40-C66E884A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81025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3398E-9E6E-4703-BAA3-383C86F3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88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3BD45-71DD-493A-B182-C6E05A6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810250"/>
            <a:ext cx="7277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Mobile behavior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D359F-68BE-46D0-83C1-090D28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293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Photo upload, large files, weak connectivity, drafts.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822CA-0C47-425D-AABA-55E3F36F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1045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F4492-3350-4CD5-8E2B-182D668C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866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4F8A1-6008-4642-B75D-D3CEE095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410450"/>
            <a:ext cx="7277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Reporting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0E1CE3-8617-4706-9D24-BFE6EF9A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8295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Aging, pending approvals, workload, missing photos.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97016-2136-4AD8-BDF5-0C71E206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41045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A5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6CD96A-A52D-4E67-94F0-45BB681A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4866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BE6F39-EAF6-40E7-B51F-97FD3FFA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410450"/>
            <a:ext cx="7277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Cutover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F110F3-A145-4AB8-A6F4-131E4F97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8295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JIRA status mapping, open work migration, rollback trigger.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8CDE67-38AB-4D31-82D5-DC44BF7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42401E-0067-4DA0-A18E-A1B9053E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RETRY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CDB905-D695-4F60-A0A3-A5DA5BB5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BC15A9-FAF0-401E-BC33-68C8D887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MISSING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EE7E9A-D2DE-4A62-B10E-B109BAAA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54A0F2-154A-4741-B9E8-D65FD56C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ROLE BOUNDARY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890250-53CF-4311-BA4B-A293BE72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CABB94-C71A-4B20-A72E-3329CA67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CUTOVER</a:t>
            </a:r>
          </a:p>
        </p:txBody>
      </p:sp>
    </p:spTree>
    <p:extLst>
      <p:ext uri="{BB962C8B-B14F-4D97-AF65-F5344CB8AC3E}">
        <p14:creationId xmlns:p14="http://schemas.microsoft.com/office/powerpoint/2010/main" val="5195292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778167-D967-495A-A048-3731233F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B5678-220E-447A-AD96-2E4FDE5D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CUTOVER CONTROL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1E226-B25D-4066-935B-F4EE4CB0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0873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Move open work only after the pilot proves the operating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266DE-5D39-45BF-BF83-D6BFF6B9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6017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continuation plan keeps JIRA rollback visible until real users validate the Frappe Framework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319E2-B840-4E07-8F34-EDDE4BA4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1181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50E87-C919-4EFD-B6A5-9D31C872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1B9D0-4847-4906-A9B1-B18BA6F1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278B4-C2A9-47F3-859B-08A73B8D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3848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Map statuses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BF42D-1B26-4ADE-8684-D8F1D5F9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JIRA state to Frappe Workflow.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D5882-FBB4-4495-8EAD-93983565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3238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119CF-2575-434D-B58E-0F09DB10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4210050"/>
            <a:ext cx="51181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2C71E-E4F7-4771-B99B-1657CC9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1CA7B-9A3E-4F40-8AA3-5A52ACAB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969E9-A356-407A-8307-A0AF0ED3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19600"/>
            <a:ext cx="3848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Freeze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04FF4-ED8C-4C23-BECA-FF5A37BD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2920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Stop new work-order drift.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48463-8044-426F-A21E-41F75BEE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210050"/>
            <a:ext cx="3238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58791-0598-4C37-93A3-978B017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600" y="4210050"/>
            <a:ext cx="51181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99B9C-1CA3-4504-93D8-0E7EDC31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22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AFD57-8415-42A1-A825-B4379B20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D19EA-C5A0-4F51-937B-078C6E0D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419600"/>
            <a:ext cx="3848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Import open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9D7DE-A249-45DB-ACC9-946D0BA5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02920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Load tickets and evidence links.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5D56C-03CF-4C9A-94F5-61981F02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48400"/>
            <a:ext cx="6677025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A8479-99A1-4382-BFA5-3FC3C515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5795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3DEC97-DF27-438F-BD86-27F4D9CF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5341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BA3B47-F9ED-4462-8CE9-DF2AF4AA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457950"/>
            <a:ext cx="5410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Parallel 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88BC61-5957-440C-BD16-79570511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67550"/>
            <a:ext cx="6229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Compare aging and approvals.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D3CA04-2D38-4430-B9A0-63E556C9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48400"/>
            <a:ext cx="3238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A36130-98EE-444F-BE9E-406D6125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248400"/>
            <a:ext cx="20002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41B73-BB70-4E3E-8337-762C8D3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419850"/>
            <a:ext cx="16573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Go live?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1D500A-0568-4886-A764-9AC3B37C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48400"/>
            <a:ext cx="3238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4C153A-9546-48E2-9C24-8513B042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6677025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219E4B-5E1A-49B5-8DCB-D8EB0E8A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645795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CC7CD5-DCF8-47F6-BFEE-1F43198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BC947F-D3DF-418D-B065-6434BE9A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457950"/>
            <a:ext cx="5410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Monitor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F2E014-8FBD-4957-8086-C974B018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067550"/>
            <a:ext cx="6229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Track errors, SLA, missing photos.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85C05F-272B-44D6-953D-032BF336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286750"/>
            <a:ext cx="165354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4BB1E4-574D-4CED-BF65-4D0089A5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458200"/>
            <a:ext cx="1714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A5A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DA64CF-B049-464F-841E-B0839AE9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458200"/>
            <a:ext cx="15773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Rollback trigger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599D9F-C3BF-42AD-9A83-3F17A86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896350"/>
            <a:ext cx="1577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Keep JIRA read-only reference and rollback criteria until field, supervisor, manager, and head approvals pass UAT.</a:t>
            </a:r>
          </a:p>
        </p:txBody>
      </p:sp>
    </p:spTree>
    <p:extLst>
      <p:ext uri="{BB962C8B-B14F-4D97-AF65-F5344CB8AC3E}">
        <p14:creationId xmlns:p14="http://schemas.microsoft.com/office/powerpoint/2010/main" val="19018659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B8B39F-042C-4268-B188-3CF07567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F5FE5-A282-4914-8DBE-4AC432CD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PILOT BUILD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27659-DD9A-463F-B69D-01EEC09C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1635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Build the replacement in the order that reduces operational risk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15BDE-32EA-48D2-A7F7-DA560275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06489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Integration and real user workflow come before non-essential automation.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1C07D-F830-43EC-A766-DA6EC39D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9624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9375E-F043-4796-87A2-735794A9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7E161-4020-4B99-87AD-7324C854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09BD1-0965-4B7F-B51B-DFE737E0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268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Payload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28FA1-D8E0-47E4-88F4-719A4E03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3505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Field list, retry behavior, priority mapping, error logging. Output: API contract.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30095-394D-4331-AD00-F8F13446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10050"/>
            <a:ext cx="39624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7D1E3-1C49-4A51-A8A7-868CCAE7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843AC-BA4A-40AE-932F-AAD2869F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A6D54-281D-4CFE-B1AB-25AA8F59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9600"/>
            <a:ext cx="268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Master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BDB72-9B7B-4830-9E6A-71EBD660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29200"/>
            <a:ext cx="3505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Site, device, alarm type, checklist template. Output: import-ready masters.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5256A-627C-43D7-B00F-219C335F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10050"/>
            <a:ext cx="39624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B6860-3E63-49E8-8023-A6DCADFB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73E7F-B98A-4850-B63B-889B08D7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670B4-CAFA-47AA-9878-7C351E0C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419600"/>
            <a:ext cx="268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Mobile UAT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836C8-71C8-4E8F-9ECC-D7C9D30F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29200"/>
            <a:ext cx="3505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Technician form usability and photo evidence capture. Output: field signoff.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93264-9982-4F72-B0AF-AE2DFDD3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4210050"/>
            <a:ext cx="39624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C0C7A-FEBF-46D3-810A-5FA3E6E3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6C0F0-2630-438C-B04D-68373707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883A8-9235-4558-8407-FF73B3AE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4419600"/>
            <a:ext cx="268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Cutover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E5AE6-C4F4-4E70-A1EB-D3BDF912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5029200"/>
            <a:ext cx="3505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Status mapping, migration window, freeze, rollback. Output: release checklist.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0A0D0-CF20-4A23-95E6-52571FD6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E49B2-52FF-4A5D-9508-84737E4D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PAYLOAD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C456F6-A9DD-4843-9106-06FE82AC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86C4B-F3A2-40BC-8505-84E20DF1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MASTER 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A3A0E-21A8-444A-811B-7CCCE06D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48E5AD-0D6F-4C1B-9AF5-C9D89502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MOBILE UAT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57157C-2C63-4B09-888C-B40D28A2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60776A-061A-4744-88EB-002339B5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CUTOVER</a:t>
            </a:r>
          </a:p>
        </p:txBody>
      </p:sp>
    </p:spTree>
    <p:extLst>
      <p:ext uri="{BB962C8B-B14F-4D97-AF65-F5344CB8AC3E}">
        <p14:creationId xmlns:p14="http://schemas.microsoft.com/office/powerpoint/2010/main" val="2043276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C6290C-D2E7-4B3D-B33D-956D9F66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FA405-15FE-4736-9907-B8CA5840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PRODUCTION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9DF14-BF66-4652-A213-38978604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25349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Free proof of concept (POC) is not production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0DD1D-EC08-4851-8677-71FF5C9D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26111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public bench proves the workflow; production needs private bench controls, release ownership, and operational safeguards.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BB11B-FBC0-44E7-97F7-9FF2E21D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8086725" cy="552450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8222F-4FDD-4B56-84C8-72FDEAED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7372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Use free Frappe Cloud 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3516C-0130-4881-BEC8-504FCCB8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7779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5021F-E84F-4A2B-B5F6-BF609F42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82214-2F59-4A42-8CC0-1B56DA2D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8160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Workflow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4785B-18A3-4691-898C-E8FC88E7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8165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Roles, workflow, reports, dashboard cards.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3999F-F439-42E0-879B-2D8062A5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6552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56C4F-6CEE-4D02-AAF3-10D64382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341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E81DE-06E8-409B-B74C-166B46E3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05790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REST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D2360-137D-4021-8AB4-AF3AB817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7700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Record creation and file upload sequence.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A9E2C-ED30-4B20-90B1-58BCE254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5325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3208F-F996-4540-89F1-84DA02C5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29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F2AAD-96C9-4D74-BA37-73176F8E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95325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Stakeholder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9C0A9-5A58-4209-9072-BBF95901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37235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Business process fit and evidence model.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EBA3E-E955-4172-8D64-DB76F384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210050"/>
            <a:ext cx="8086725" cy="552450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C2871-3AE0-4B42-83B8-37D3108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52950"/>
            <a:ext cx="7372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Use private bench for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5FBA9-0229-41CE-A5EC-09E5E373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17779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E57C7-A922-4597-936E-A2E58933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387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2AA88-266F-4780-B3FA-E101A7D3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8160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Custom app install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5440A-B5FE-44AB-A417-CF2FE8B3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8165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Fixtures, hooks, DocTypes, endpoint.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C04F8-FFBB-4563-955A-F49BF3CD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606552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467FC6-7211-4C6F-97F8-CB69B442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341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2FFBB-9E6C-4E86-9CBC-15766706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5790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Server-side 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95AD41-0C42-4F8D-BAF3-338B2BF5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Validation, logging, migration, release flow.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3E7A51-B636-448D-8D8E-D47A7C39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695325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317C9-A5B5-4746-8086-5CAB859C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029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53A18F-90ED-459F-AD80-9A0301DC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95325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Production readiness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4C7734-7452-4DBA-B0E2-1E6F4C8C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37235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Backups, security, monitoring, rollback.</a:t>
            </a:r>
          </a:p>
        </p:txBody>
      </p:sp>
    </p:spTree>
    <p:extLst>
      <p:ext uri="{BB962C8B-B14F-4D97-AF65-F5344CB8AC3E}">
        <p14:creationId xmlns:p14="http://schemas.microsoft.com/office/powerpoint/2010/main" val="1690779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2026-05-04T05:44:48.5650000Z</dcterms:created>
  <dcterms:modified xsi:type="dcterms:W3CDTF">2026-05-04T05:44:48.5650000Z</dcterms:modified>
</coreProperties>
</file>