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0a3bd8a3bb4971" /><Relationship Type="http://schemas.openxmlformats.org/officeDocument/2006/relationships/extended-properties" Target="/docProps/app.xml" Id="Re6120c826742418e" /><Relationship Type="http://schemas.openxmlformats.org/officeDocument/2006/relationships/officeDocument" Target="/ppt/presentation.xml" Id="R8bb90c1b30fa4e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9645d43356409a"/>
  </p:sldMasterIdLst>
  <p:notesMasterIdLst>
    <p:notesMasterId xmlns:r="http://schemas.openxmlformats.org/officeDocument/2006/relationships" r:id="Refa14825bf764537"/>
  </p:notesMasterIdLst>
  <p:sldIdLst>
    <p:sldId xmlns:r="http://schemas.openxmlformats.org/officeDocument/2006/relationships" id="256" r:id="R421bee9da1fb4b6c"/>
    <p:sldId xmlns:r="http://schemas.openxmlformats.org/officeDocument/2006/relationships" id="257" r:id="Ra9d7d41e4e1745c1"/>
    <p:sldId xmlns:r="http://schemas.openxmlformats.org/officeDocument/2006/relationships" id="258" r:id="R1297fe4d4f154014"/>
    <p:sldId xmlns:r="http://schemas.openxmlformats.org/officeDocument/2006/relationships" id="259" r:id="R2f0034a041824e87"/>
    <p:sldId xmlns:r="http://schemas.openxmlformats.org/officeDocument/2006/relationships" id="260" r:id="Rd5381ac279fd48f6"/>
    <p:sldId xmlns:r="http://schemas.openxmlformats.org/officeDocument/2006/relationships" id="261" r:id="Rd3ba8c48906d4acb"/>
    <p:sldId xmlns:r="http://schemas.openxmlformats.org/officeDocument/2006/relationships" id="262" r:id="R5e00c1fba2e740ce"/>
    <p:sldId xmlns:r="http://schemas.openxmlformats.org/officeDocument/2006/relationships" id="263" r:id="Rd7c70db73b384bb4"/>
    <p:sldId xmlns:r="http://schemas.openxmlformats.org/officeDocument/2006/relationships" id="264" r:id="R7712ce1ddccf4241"/>
    <p:sldId xmlns:r="http://schemas.openxmlformats.org/officeDocument/2006/relationships" id="265" r:id="R1ea5647ff10f49b1"/>
    <p:sldId xmlns:r="http://schemas.openxmlformats.org/officeDocument/2006/relationships" id="266" r:id="Rb99cfa7fe9d7441c"/>
    <p:sldId xmlns:r="http://schemas.openxmlformats.org/officeDocument/2006/relationships" id="267" r:id="R28cfa4e5f40c446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645d43356409a" /><Relationship Type="http://schemas.openxmlformats.org/officeDocument/2006/relationships/theme" Target="/ppt/theme/theme1.xml" Id="R83b5df7723294e1e" /><Relationship Type="http://schemas.openxmlformats.org/officeDocument/2006/relationships/notesMaster" Target="/ppt/notesMasters/notesMaster1.xml" Id="Refa14825bf764537" /><Relationship Type="http://schemas.openxmlformats.org/officeDocument/2006/relationships/presProps" Target="/ppt/presProps.xml" Id="Rdf8eb2c224174b76" /><Relationship Type="http://schemas.openxmlformats.org/officeDocument/2006/relationships/viewProps" Target="/ppt/viewProps.xml" Id="Rcf62d4a90a0f4589" /><Relationship Type="http://schemas.openxmlformats.org/officeDocument/2006/relationships/tableStyles" Target="/ppt/tableStyles.xml" Id="R45f4970bb7a543d6" /><Relationship Type="http://schemas.openxmlformats.org/officeDocument/2006/relationships/slide" Target="/ppt/slides/slide1.xml" Id="R421bee9da1fb4b6c" /><Relationship Type="http://schemas.openxmlformats.org/officeDocument/2006/relationships/slide" Target="/ppt/slides/slide2.xml" Id="Ra9d7d41e4e1745c1" /><Relationship Type="http://schemas.openxmlformats.org/officeDocument/2006/relationships/slide" Target="/ppt/slides/slide3.xml" Id="R1297fe4d4f154014" /><Relationship Type="http://schemas.openxmlformats.org/officeDocument/2006/relationships/slide" Target="/ppt/slides/slide4.xml" Id="R2f0034a041824e87" /><Relationship Type="http://schemas.openxmlformats.org/officeDocument/2006/relationships/slide" Target="/ppt/slides/slide5.xml" Id="Rd5381ac279fd48f6" /><Relationship Type="http://schemas.openxmlformats.org/officeDocument/2006/relationships/slide" Target="/ppt/slides/slide6.xml" Id="Rd3ba8c48906d4acb" /><Relationship Type="http://schemas.openxmlformats.org/officeDocument/2006/relationships/slide" Target="/ppt/slides/slide7.xml" Id="R5e00c1fba2e740ce" /><Relationship Type="http://schemas.openxmlformats.org/officeDocument/2006/relationships/slide" Target="/ppt/slides/slide8.xml" Id="Rd7c70db73b384bb4" /><Relationship Type="http://schemas.openxmlformats.org/officeDocument/2006/relationships/slide" Target="/ppt/slides/slide9.xml" Id="R7712ce1ddccf4241" /><Relationship Type="http://schemas.openxmlformats.org/officeDocument/2006/relationships/slide" Target="/ppt/slides/slide10.xml" Id="R1ea5647ff10f49b1" /><Relationship Type="http://schemas.openxmlformats.org/officeDocument/2006/relationships/slide" Target="/ppt/slides/slide11.xml" Id="Rb99cfa7fe9d7441c" /><Relationship Type="http://schemas.openxmlformats.org/officeDocument/2006/relationships/slide" Target="/ppt/slides/slide12.xml" Id="R28cfa4e5f40c44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07f023988954f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83961339d344e6" /><Relationship Type="http://schemas.openxmlformats.org/officeDocument/2006/relationships/notesMaster" Target="/ppt/notesMasters/notesMaster1.xml" Id="Rdc8233a619a94d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5ff172c46440bc" /><Relationship Type="http://schemas.openxmlformats.org/officeDocument/2006/relationships/notesMaster" Target="/ppt/notesMasters/notesMaster1.xml" Id="Rdf2de7d93d3f42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f4915729114201" /><Relationship Type="http://schemas.openxmlformats.org/officeDocument/2006/relationships/notesMaster" Target="/ppt/notesMasters/notesMaster1.xml" Id="R54916924ad3747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1626f0c30744f3" /><Relationship Type="http://schemas.openxmlformats.org/officeDocument/2006/relationships/notesMaster" Target="/ppt/notesMasters/notesMaster1.xml" Id="R2df95a9d4f0c46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05ac642ebd435f" /><Relationship Type="http://schemas.openxmlformats.org/officeDocument/2006/relationships/notesMaster" Target="/ppt/notesMasters/notesMaster1.xml" Id="R399119e583c04d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8d498990d549fd" /><Relationship Type="http://schemas.openxmlformats.org/officeDocument/2006/relationships/notesMaster" Target="/ppt/notesMasters/notesMaster1.xml" Id="Rac4f81c835b94d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4bc5ccd57d4f5f" /><Relationship Type="http://schemas.openxmlformats.org/officeDocument/2006/relationships/notesMaster" Target="/ppt/notesMasters/notesMaster1.xml" Id="Re9a5b1e4c0ed44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749926e5ad4897" /><Relationship Type="http://schemas.openxmlformats.org/officeDocument/2006/relationships/notesMaster" Target="/ppt/notesMasters/notesMaster1.xml" Id="R5b27e3c7dcca42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7c1188adf9430d" /><Relationship Type="http://schemas.openxmlformats.org/officeDocument/2006/relationships/notesMaster" Target="/ppt/notesMasters/notesMaster1.xml" Id="Ra0505727ebb14f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67341e7db14c35" /><Relationship Type="http://schemas.openxmlformats.org/officeDocument/2006/relationships/notesMaster" Target="/ppt/notesMasters/notesMaster1.xml" Id="R8a1d406f4c6549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50ef197a7a4e4a" /><Relationship Type="http://schemas.openxmlformats.org/officeDocument/2006/relationships/notesMaster" Target="/ppt/notesMasters/notesMaster1.xml" Id="Rb9efb32ca2434f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1555021731463b" /><Relationship Type="http://schemas.openxmlformats.org/officeDocument/2006/relationships/notesMaster" Target="/ppt/notesMasters/notesMaster1.xml" Id="Re6e97ef95faf41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a5bb5860e431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23a2ae8847f4341" /><Relationship Type="http://schemas.openxmlformats.org/officeDocument/2006/relationships/slideLayout" Target="/ppt/slideLayouts/slideLayout2.xml" Id="Rbe5651f618f147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5651f618f147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c1c520bda9427a" /><Relationship Type="http://schemas.openxmlformats.org/officeDocument/2006/relationships/notesSlide" Target="/ppt/notesSlides/notesSlide1.xml" Id="R18ad49bc67cc44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61b740bd4643e8" /><Relationship Type="http://schemas.openxmlformats.org/officeDocument/2006/relationships/notesSlide" Target="/ppt/notesSlides/notesSlide2.xml" Id="Rf087ea313e8d44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b5e8039d1b4021" /><Relationship Type="http://schemas.openxmlformats.org/officeDocument/2006/relationships/notesSlide" Target="/ppt/notesSlides/notesSlide3.xml" Id="R1d4385d6d37a45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d954a21d1a4abe" /><Relationship Type="http://schemas.openxmlformats.org/officeDocument/2006/relationships/notesSlide" Target="/ppt/notesSlides/notesSlide4.xml" Id="R221b9f9803954d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00869938144e19" /><Relationship Type="http://schemas.openxmlformats.org/officeDocument/2006/relationships/notesSlide" Target="/ppt/notesSlides/notesSlide5.xml" Id="R4c2ee56a852347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2c988096ab4694" /><Relationship Type="http://schemas.openxmlformats.org/officeDocument/2006/relationships/notesSlide" Target="/ppt/notesSlides/notesSlide6.xml" Id="R9c61dc42c3254c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e189e33a244252" /><Relationship Type="http://schemas.openxmlformats.org/officeDocument/2006/relationships/notesSlide" Target="/ppt/notesSlides/notesSlide7.xml" Id="Rae24e728247a48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207a0024bc42e8" /><Relationship Type="http://schemas.openxmlformats.org/officeDocument/2006/relationships/notesSlide" Target="/ppt/notesSlides/notesSlide8.xml" Id="Rbec5b44bdf2a47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b66f273c0c4ba9" /><Relationship Type="http://schemas.openxmlformats.org/officeDocument/2006/relationships/notesSlide" Target="/ppt/notesSlides/notesSlide9.xml" Id="Re3b91b099b7747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ceb3cda9d8428a" /><Relationship Type="http://schemas.openxmlformats.org/officeDocument/2006/relationships/notesSlide" Target="/ppt/notesSlides/notesSlide10.xml" Id="R7ab2e1df30be49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e61e820120458f" /><Relationship Type="http://schemas.openxmlformats.org/officeDocument/2006/relationships/notesSlide" Target="/ppt/notesSlides/notesSlide11.xml" Id="Rda35f7f1762341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6d83e9b8374fcd" /><Relationship Type="http://schemas.openxmlformats.org/officeDocument/2006/relationships/notesSlide" Target="/ppt/notesSlides/notesSlide12.xml" Id="R68b280a42dd045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0AEA3C-0FC6-4DBB-AFD0-3D0D6A6C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1976B-8844-4E65-BE8A-006C4480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720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FRONTIER TOWER ASSOCIATES PHILIPPINES INC. (FTAP)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B81F1-99A8-4F06-9E8F-92226150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7315200" cy="268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Frappe Framework Proof of Concept (POC) for Work Order Replacement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50E48-78D6-4D67-9E59-EA9A2786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90974-A819-4638-B3EB-9A1FE8FC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75819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550">
                <a:solidFill>
                  <a:srgbClr val="56677A"/>
                </a:solidFill>
                <a:latin typeface="Aptos"/>
                <a:ea typeface="Aptos"/>
                <a:cs typeface="Aptos"/>
              </a:rPr>
              <a:t>Replace the JIRA work-order path with a native Frappe Framework flow for alarms, field reports, photo evidence, approvals, and closure.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CE7D3-4E80-42EB-9B36-6E454242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2450"/>
            <a:ext cx="8801100" cy="9182100"/>
          </a:xfrm>
          <a:prstGeom xmlns:a="http://schemas.openxmlformats.org/drawingml/2006/main" prst="roundRect">
            <a:avLst>
              <a:gd name="adj" fmla="val 324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45E89-D2CF-4803-BC13-DED2278C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76300"/>
            <a:ext cx="8153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Target operating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07BBF-2C8C-41E6-9A94-B9C75CF7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93520"/>
            <a:ext cx="3762375" cy="17335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2150C-D2AA-4EC2-9E4D-0F93936C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0307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3341F-A895-4530-A33C-1B018B1A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716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93990-DEBD-4576-918A-16C19ACD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95450"/>
            <a:ext cx="2495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Alarm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92A57-E2C4-4277-A15D-55EA1374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05050"/>
            <a:ext cx="331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Internet of Things intake.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C9CB6-4A19-42FC-8D1C-1C102D39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485900"/>
            <a:ext cx="32385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E6EF6-4FA7-4712-900A-CA07796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1493520"/>
            <a:ext cx="3762375" cy="17335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15E76-DEA8-4A5C-8DF6-A9FC58F0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170307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A0AE0-ED41-4783-BA87-56406670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7716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82804-A4A5-4E0D-BAC2-7D283133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695450"/>
            <a:ext cx="2495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Ticket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67C09-9284-4C83-AD5F-AAABC1D1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305050"/>
            <a:ext cx="331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Captures alarm identity.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35C56A-03FB-4928-9999-FF283F24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55670"/>
            <a:ext cx="3762375" cy="17335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9DAC0-36A9-4BB5-9544-7DA3B36C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6522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A794CB-634B-4F9B-A488-1492A5E0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640DE-CDC6-441B-8794-FE41C57D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57600"/>
            <a:ext cx="2495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Work 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4220A-9559-4B42-A627-02780E1D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67200"/>
            <a:ext cx="331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Dispatches field work.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CB0073-DEBB-4A4B-A249-E179A282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448050"/>
            <a:ext cx="32385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E875F-F2C4-4BF9-8FAF-448B5EBB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3455670"/>
            <a:ext cx="3762375" cy="17335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541208-3444-4BA1-A8BB-E275052A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366522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CC24D6-521E-442F-AF66-6575A4CD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733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BA6A3D-EB69-4ECA-B2E8-873EE3E6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657600"/>
            <a:ext cx="2495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Approval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BB38F1-0606-48F3-AA24-51FDA89D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267200"/>
            <a:ext cx="331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Supervisor to head.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29FC93-46DC-4515-83DA-E622FB60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17820"/>
            <a:ext cx="7620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D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CCF4A2-21EA-4F80-AC16-7EC6DDAB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864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POC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C61717-8C84-49CB-B152-E2E50DFA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410200"/>
            <a:ext cx="7219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One traceable operational record from alarm to closure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D813F0-B391-44B1-A0DE-C34D64BA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427470"/>
            <a:ext cx="26162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C1006D-1239-4998-9FE5-E4F3762A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572250"/>
            <a:ext cx="2343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ALARM INTAKE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986ED6-7FD8-42B8-91F8-834CFF45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3050" y="6427470"/>
            <a:ext cx="26162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CA48BC-BDC9-400A-B324-52FADED8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6572250"/>
            <a:ext cx="2343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FIELD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00A47C-B882-4E2F-99D5-12977116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1650" y="6427470"/>
            <a:ext cx="26162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A79925-8CEA-4BCE-9AA9-F0CB775E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6572250"/>
            <a:ext cx="2343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APPROVAL TRAIL</a:t>
            </a:r>
          </a:p>
        </p:txBody>
      </p:sp>
    </p:spTree>
    <p:extLst>
      <p:ext uri="{BB962C8B-B14F-4D97-AF65-F5344CB8AC3E}">
        <p14:creationId xmlns:p14="http://schemas.microsoft.com/office/powerpoint/2010/main" val="16089696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84F6C4-1611-41C7-B3F1-383EC878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70991-ADF0-4F28-88C5-D062F9BF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PROBLEM TO SOLVE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65A0F-B3AA-476A-B749-7D0E6011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48399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JIRA is carrying work orders that should live with field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4B786-93BA-4472-9754-591B00BB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5636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The pain is split context: alarm data, technician evidence, photos, and approvals are not held in one operational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76AE3-C6A9-4059-8067-ABCD40A9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805815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22341-C9FE-475B-BB96-1DBFD4A5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5A"/>
          </a:solidFill>
          <a:ln xmlns:a="http://schemas.openxmlformats.org/drawingml/2006/main" w="0">
            <a:solidFill>
              <a:srgbClr val="E65A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A3047-9FB6-4B10-9944-DB00A53E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752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Handoff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3163A-EBC3-4718-9DFF-C6A362AA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752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Ticket, site work, photo evidence, and decisions travel across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15F2B-BC54-4159-8877-8AE40B5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805815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77465-16EB-4BEA-8666-3C00E828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6745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D"/>
          </a:solidFill>
          <a:ln xmlns:a="http://schemas.openxmlformats.org/drawingml/2006/main" w="0">
            <a:solidFill>
              <a:srgbClr val="F2B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606A9-EF52-4CE4-BA59-A1F40135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00800"/>
            <a:ext cx="752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Audit friction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C260F-D3E9-42C5-9B38-F588E84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19900"/>
            <a:ext cx="752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Supervisors and managers need a single record for evidence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53F83-8268-4A1C-9463-48EB26B7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981950"/>
            <a:ext cx="805815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32699-AA0D-44B7-A12D-7165E3B0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1534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7"/>
          </a:solidFill>
          <a:ln xmlns:a="http://schemas.openxmlformats.org/drawingml/2006/main" w="0">
            <a:solidFill>
              <a:srgbClr val="2474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E5770-0FEC-420F-ADD5-410E8687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286750"/>
            <a:ext cx="752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Retry complexity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99268-73A8-4455-9F9B-DA97DC14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05850"/>
            <a:ext cx="752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Internet of Things alarms can replay and must not create duplicate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8FA5C-5722-4F41-8FD1-A3FE0885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8058150" cy="552450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9B33E-3148-43E8-9D08-FF8D1B9C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33900"/>
            <a:ext cx="7410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Current problem pattern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A9A40-CBA0-4EB2-A880-69C7ECEB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90160"/>
            <a:ext cx="34480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C0A56-0AFB-4E32-8A9B-2D741AC8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9971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3D136-9E35-4F6E-8C91-0AF98059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721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EAA70-8808-4315-8253-E17AF159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295900"/>
            <a:ext cx="2171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Alarm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9D109A-1BE9-407B-BA52-65B6031B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2990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External trigger.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D3EF54-0F7D-4A14-961C-54D041EA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086350"/>
            <a:ext cx="285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7D8AD-E250-4E28-8927-391F763A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090160"/>
            <a:ext cx="34480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83675-F12B-4BD2-AF2B-BE5F18D0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29971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A5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EE78A-73C8-4D47-99E7-9C69CE45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3721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B0DEEC-BEDD-41C6-AA39-E899FEE1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5295900"/>
            <a:ext cx="2171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JIRA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C03C4C-EA71-4A91-8C75-AA75B6FE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905500"/>
            <a:ext cx="2990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Separate ticket trail.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D41FEB-5105-471F-9174-30260068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709410"/>
            <a:ext cx="34480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AB76DA-D593-4DC4-9F66-48C12E39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91896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6101DE-D3C7-463A-B952-FA908ECE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9913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C25898-FFCC-4754-91A0-BDDF0B7F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915150"/>
            <a:ext cx="2171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Field work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2BDAE7-31D6-4602-AA9A-E7BDA40D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524750"/>
            <a:ext cx="2990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Photos and forms.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3215CB-813E-4FE5-8256-50993730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705600"/>
            <a:ext cx="285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C043E1-6F0F-4C25-9624-92FEB4B8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709410"/>
            <a:ext cx="34480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677E96-6F39-4571-A72E-D333B4F0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691896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D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EA5CB9-7E55-4FB7-9631-501AE997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69913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6F2A53-2C83-4460-A209-F832E739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6915150"/>
            <a:ext cx="2171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Approvals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3F01F2-EED5-40B0-89D8-27EC8098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7524750"/>
            <a:ext cx="2990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Context copied upward.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D74A47-896F-41EA-BECE-19ABAFFE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8328660"/>
            <a:ext cx="7620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F8DB0B-D689-46D9-B489-A8AF9BDD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840105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8671FC-4CE8-480D-802C-98755280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8324850"/>
            <a:ext cx="6477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Goal: move the workflow into Frappe Framework records</a:t>
            </a:r>
          </a:p>
        </p:txBody>
      </p:sp>
    </p:spTree>
    <p:extLst>
      <p:ext uri="{BB962C8B-B14F-4D97-AF65-F5344CB8AC3E}">
        <p14:creationId xmlns:p14="http://schemas.microsoft.com/office/powerpoint/2010/main" val="10914370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5CC8AA-BC70-4EA7-B9A2-957D8EB1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68262-2817-473B-B2A6-68639B9B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C22A6-7FAD-4B5C-B5A9-153F1A4E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42303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One Frappe Framework flow connects alarms, work orders, evidence, and approval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419F3-8E72-40E1-850A-DC9B6E8D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906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The free site proves the business workflow; the private bench adds custom endpoint logic, hooks, migration, and monitoring.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764A6-8469-4415-93BD-F8E8B184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505460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E56BF-CFF9-44C8-94E6-3497BF7B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714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7C25F-64C2-49E8-9714-E19D697F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Internet of Things alarm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263DB-A3D2-4FBF-BEAE-734A9CE3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alarm_id, device_id, alarm_type, priority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C492C-F873-4B1D-8948-AFFB1049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342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387D4-A4AB-4A51-AA46-74B811A5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4210050"/>
            <a:ext cx="505460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58E40-5A17-4841-A8CF-BBF27069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4381500"/>
            <a:ext cx="1714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056ED-B6D5-47E7-8CA0-ED99B7E9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Integration adapter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7949C-AAE5-406C-B619-80BB5C1F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19650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standard REST path or private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92BA8-DB93-41C3-B13E-66C5079F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210050"/>
            <a:ext cx="342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4BB49-7A1D-4780-BDDE-FDCD46B9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4210050"/>
            <a:ext cx="505460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1FAF1-3258-4F3B-A498-B338CCA7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6650" y="4381500"/>
            <a:ext cx="1714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EF132-29D8-4B13-9C58-AB999BE9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381500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Frappe Framework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85FA8-67AA-4E76-8A97-609208E7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819650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DocTypes, workflow, files,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7FEEE-2423-4308-9102-BC89F3B4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505460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DA274B-7F99-4AB2-9CDB-1B0B7D61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05500"/>
            <a:ext cx="1714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8B279-39FA-4168-9685-FB854CF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Service ticket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EDE0BD-0CC8-4C35-BE51-9FBDDD93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43650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unique alarm identity and ticket 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49D47-4E7D-4ED8-8C98-8E07E4EB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34050"/>
            <a:ext cx="342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10EC05-22DE-4227-A66C-4695A350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5734050"/>
            <a:ext cx="505460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13DCDA-E425-4A5C-89E1-454E1B80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5905500"/>
            <a:ext cx="1714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5D78A5-7F1E-4EC1-BB8F-608868EA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905500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Work order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76097-557E-4254-A024-6AD9910D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343650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assignment, field report, approvals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CC0BF-9762-4810-9288-CCF3E0C2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734050"/>
            <a:ext cx="342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E2D65D-DAB8-4D64-A30D-9F5D235D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5734050"/>
            <a:ext cx="505460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029165-7405-4546-AB04-D6CCA1C0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6650" y="5905500"/>
            <a:ext cx="1714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D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E1A5F2-FC40-4D91-B977-EC4D8608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905500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Evidence trail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BD6070-5263-4D54-A728-66FBD783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6343650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checklist rows, notes, private photos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2BACA8-2CEE-45A4-928B-EC14FEC3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58050"/>
            <a:ext cx="505460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DB80F3-1395-419A-A7D2-AE8F59B5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429500"/>
            <a:ext cx="1714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427214-DF97-4296-916D-5BC18043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0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Supervisor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DD5EC8-77CA-48F7-BEA7-C7BCB3D8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67650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validates field 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A1AC62-1AB5-40BD-81B0-FE2217F9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58050"/>
            <a:ext cx="342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A8D062-2154-440A-979E-A9FB1C5E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7258050"/>
            <a:ext cx="505460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532A57-2B9A-4EF1-A36E-A5630676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7429500"/>
            <a:ext cx="1714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D05572-9C2B-4226-9B96-972AB109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7429500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Manager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52ABB2-48B9-414D-92AD-8EBF98C8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7867650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approves completion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2B0868-85CD-4299-B507-83DFB2DE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7258050"/>
            <a:ext cx="342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DF5B8C-E9E0-489D-864E-1AC284E3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100" y="7258050"/>
            <a:ext cx="505460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64A86F-C0B3-4F78-B877-E4ADBBC3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6650" y="7429500"/>
            <a:ext cx="1714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4B93C4-3959-4415-8F2C-4391E847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7429500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Department head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077B08-5954-46FF-96C1-EBF65680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7867650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final approval and closure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E4CD25-4B7C-4771-BD64-81B53B93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820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82E00F-E459-454A-A478-B67AEAAD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9344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DOCTYPES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FB5850-3857-4F30-94DB-E4EB886E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7820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411B39-62F5-476F-8492-4B394F1F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89344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WORKFLOW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B9132C-6E4B-4EDA-9D6B-5DE5ED83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7820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11F52B-649B-4490-BE66-2282093E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9344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FILES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140819-2958-4863-BAE1-83E3C437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87820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6E0409-4C3F-4BDA-AB3F-66C794A5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9344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6216833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09CE7C-8AB1-4B64-89A3-21F2FDBD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7D4B7-24D8-478F-AB8F-F6CDCDEC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PROCESS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3730C-135A-4B31-A0EC-148BB913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41922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Every handoff becomes a controlled workflow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769F7-BE52-4475-93A2-F6786FE9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25158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Rejected work returns to the technician in the same record instead of creating a parallel conversation.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99F06-C709-4CF5-ABF3-F73ED7EE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50673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BCCC3-0C5E-4ED8-91DB-19BCEAAC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EDCDC-2D95-4761-96E5-44DDB31B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F61C7-47B0-4018-9BEB-2C91C2A1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9600"/>
            <a:ext cx="379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Alarm received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578F0-9206-44F4-9356-A8D0D6BD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Create or find service ticket.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9918C-D455-491A-8E0D-3F03160C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4000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E243A-BAD7-4915-B5CD-119BDD48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50673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4A5D0-9E3C-45F7-84B9-0389434A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0C8C3-3961-4B19-9517-6CD932DA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1B19C-31AB-4FF8-9CF5-EB2FE574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19600"/>
            <a:ext cx="379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Work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9BE67-BBC9-42F4-8BE8-390895FF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292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Create linked field record.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5E79D-247D-464F-84E5-63392092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210050"/>
            <a:ext cx="4000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537F7-25DD-4943-9520-B45C5584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210050"/>
            <a:ext cx="50673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82FC6-6950-48EB-8B80-4B4AD348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95060-24F8-4853-A92A-41F26436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94A23-E182-4F95-99F1-23EA9C25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4419600"/>
            <a:ext cx="379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Dispatch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EE63B-C662-46DE-B977-A7CB7AE4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0292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Assign field technician.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591B4-DD32-48AF-B859-EFFF1E60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15050"/>
            <a:ext cx="11201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F4D9A-2F99-4AE2-BE27-584656E4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324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C8A05-0215-429A-940D-B5E85EE8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00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D06BE-52A1-45C8-A688-28FBCEA0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324600"/>
            <a:ext cx="9925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Field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E0859A-1320-4FFC-90E7-96CD3376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934200"/>
            <a:ext cx="10744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Checks, notes, photos.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6FA3C4-F055-40F7-A230-E8D8A83A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115050"/>
            <a:ext cx="4000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F29DAE-D07A-40B9-A5C0-B309CAAD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6115050"/>
            <a:ext cx="20002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50803-C6C9-4D47-B00D-1A630A09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6286500"/>
            <a:ext cx="16573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Supervisor accepts?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960973-A232-4235-8F4F-EED17F41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6115050"/>
            <a:ext cx="4000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D1833D-E4DF-44E1-B126-C4876C18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6115050"/>
            <a:ext cx="20002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189300-D6F2-4649-87D8-A1C5CA0E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6286500"/>
            <a:ext cx="16573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Manager approves?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CCAB44-6765-4285-AB0F-5EB8D43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020050"/>
            <a:ext cx="50673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26660B-D486-43BB-AB33-83986114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22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CB1C95-BD4B-4AC5-B8D5-25A4584D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0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6E140E-67E1-4DE5-BE3E-58D0766B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8229600"/>
            <a:ext cx="379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Head approval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F5953E-839C-445E-BC2E-FAB41450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8392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Final approval gate.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296815-1FCD-49F7-8C73-5EDC1782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8020050"/>
            <a:ext cx="4000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1E12D3-6645-4D12-B57A-7F995367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8020050"/>
            <a:ext cx="50673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14D783-216C-4A16-8DEF-FCF1D6F8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22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4C6BFA-06AB-4F05-8F0F-E7ED9A43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30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5D43E5-5811-4F8E-BC6E-D70522F9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229600"/>
            <a:ext cx="379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Closure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417CE6-CDFB-4D3B-8F5A-0E210A5F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8392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Work order and ticket close.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7DB8D2-E300-4CC7-9550-70E3EEA2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20050"/>
            <a:ext cx="4000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5EDB69-45DF-42D3-B1F2-2546160A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8020050"/>
            <a:ext cx="50673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3BE5E0-525B-4A31-9D9D-8D8581BA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22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A5A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FFCC2B-06CF-4A9B-B197-14B988BD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30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D430AC-C231-4F3E-BEAB-EAF77612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8229600"/>
            <a:ext cx="379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Correction loop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DD5190-8E7D-4E07-955B-62748593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8392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Return to In Field.</a:t>
            </a:r>
          </a:p>
        </p:txBody>
      </p:sp>
    </p:spTree>
    <p:extLst>
      <p:ext uri="{BB962C8B-B14F-4D97-AF65-F5344CB8AC3E}">
        <p14:creationId xmlns:p14="http://schemas.microsoft.com/office/powerpoint/2010/main" val="2594531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338AF1-8227-4733-925B-B438CB7F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BB853-C734-45AE-BCE8-95695FC3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EVIDENCE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7E77D-89B5-4B1C-8975-20B2AE17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3540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work order becomes the evidence container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4F97A-D9FD-4B8F-B168-2673004D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40589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Checks, notes, photos, approvals, and closure stay tied to one traceable Frappe Framework record.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98AF9-3083-4FE3-A3CF-A9B199C5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930648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D2672-D957-49E5-A454-0071417C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36C9F-1E8B-4F67-8DB3-C111C149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A9076-269C-4FE6-A7A4-65F25C23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3752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7D6F6-BB59-4FF0-994C-414B06C7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443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Service ticket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EB3BF-279D-46DF-A80D-5E5787E2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72100"/>
            <a:ext cx="4438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Alarm identity and status.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0DADC-9075-485B-AAC4-59878D7B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4930648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5792C-48B1-45B5-B376-ED4385EA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6745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2DA15-E1D8-4452-BC20-65B8E27F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2460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399DB-1A62-4F72-BA5F-BE7FF069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67450"/>
            <a:ext cx="3752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7"/>
          </a:solidFill>
          <a:ln xmlns:a="http://schemas.openxmlformats.org/drawingml/2006/main" w="0">
            <a:solidFill>
              <a:srgbClr val="2474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3A145-7270-47CF-80D7-67A102E8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781800"/>
            <a:ext cx="443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Site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2D508-68BD-480F-B09B-BBF41A36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258050"/>
            <a:ext cx="4438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Tower, device, priority.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D762F-09ED-4386-A727-634E7B59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981950"/>
            <a:ext cx="4930648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EC7AA-8540-48A5-BADC-D43351B5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15340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BEEA8-764E-46B9-AAC8-FB8A40CA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2105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F71C7-2376-4D0A-9AB0-FB4002BA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8153400"/>
            <a:ext cx="3752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6C7"/>
          </a:solidFill>
          <a:ln xmlns:a="http://schemas.openxmlformats.org/drawingml/2006/main" w="0">
            <a:solidFill>
              <a:srgbClr val="6656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385EA-2C1D-471D-8AE5-53A895F6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667750"/>
            <a:ext cx="443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SLA 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12721-43FD-48F1-8AAA-5DAC3886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144000"/>
            <a:ext cx="4438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Aging and pending owner.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E5049-285D-4894-B786-904E036A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548" y="4210050"/>
            <a:ext cx="6216904" cy="55245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9C5D8F-6969-4FBB-8070-3D0009D7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95800"/>
            <a:ext cx="5562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FTAP Work Order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73667-3A6D-43FB-9FB1-2CA4E412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38750"/>
            <a:ext cx="556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D"/>
          </a:solidFill>
          <a:ln xmlns:a="http://schemas.openxmlformats.org/drawingml/2006/main" w="0">
            <a:solidFill>
              <a:srgbClr val="F2B1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02CE99-6EF4-4D3A-901D-AAFA9456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398" y="551688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EEAEA5-6D55-4FAA-88B1-3B486B22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816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C3DE66-B46D-4C3D-832B-22C0BD8F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24500"/>
            <a:ext cx="4781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Single source of truth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53D2FC-CE88-4F7A-B859-D9D2E528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924550"/>
            <a:ext cx="4781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Assignment, field report, evidence, approval state.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53793D-5894-4F93-8A11-B4B6326A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398" y="670941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A41EA2-0520-4BB0-AFAF-49710900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78180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855BC8-0A3A-44F8-92B7-0877EA46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705600"/>
            <a:ext cx="4781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Mobile evidence ready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2147CD-99A3-408F-85B3-BA5AAA66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24700"/>
            <a:ext cx="4781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Technician photos attach to the work-order record.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A5DABE-7DEF-4704-B888-D2C080EB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398" y="790194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AF624D-6BEC-4274-A412-601D84B6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796290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77569E-3A31-4D54-9F68-48FEF193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905750"/>
            <a:ext cx="4781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Audit-ready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F1D0F2-2DE4-4D42-BA58-78CAC90B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830580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Approver decisions stay on the same trail.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E9102F-3593-4BFE-87B2-4FB398AA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1052" y="4210050"/>
            <a:ext cx="4930648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B67CC5-D8D6-4BD6-9E61-9FAA5C67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702" y="438150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DA1892-BAA9-4117-9615-9138A0C6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44386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5CBB1D-9A7E-4B5C-9A7B-A964CFBD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381500"/>
            <a:ext cx="3752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8"/>
          </a:solidFill>
          <a:ln xmlns:a="http://schemas.openxmlformats.org/drawingml/2006/main" w="0">
            <a:solidFill>
              <a:srgbClr val="2EAD6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35BDF7-DF5D-48A3-815D-9618003C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4895850"/>
            <a:ext cx="443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Inspection checks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83F2C6-B291-4AF3-A4FD-2DC36ACF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372100"/>
            <a:ext cx="4438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Pass, fail, measured value.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3103D7-A72E-4D03-8B29-0062309C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1052" y="6096000"/>
            <a:ext cx="4930648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5BD3A2-C683-45FF-B15A-0766BDB0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702" y="626745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D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E0E155-B518-4B56-916A-3004E375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632460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C7C839-82E4-46E1-8A93-06C75C6E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6267450"/>
            <a:ext cx="3752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D"/>
          </a:solidFill>
          <a:ln xmlns:a="http://schemas.openxmlformats.org/drawingml/2006/main" w="0">
            <a:solidFill>
              <a:srgbClr val="F2B13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DFB22A-6DAF-4EE1-AA92-507F8944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6781800"/>
            <a:ext cx="443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Photo evidence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F4DD65-EB5C-4A6B-9EAF-B133CBF3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7258050"/>
            <a:ext cx="4438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Private file attachments.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5E26C0-341B-4120-B03D-841D6C7F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1052" y="7981950"/>
            <a:ext cx="4930648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98A38B-D4FD-4B0A-BC24-23EA1EB6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702" y="815340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A5A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7BF77E-BF6C-4715-9478-EBA0751C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82105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1AA762-BA0C-4CE0-8231-D3F4CB72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8153400"/>
            <a:ext cx="3752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5A"/>
          </a:solidFill>
          <a:ln xmlns:a="http://schemas.openxmlformats.org/drawingml/2006/main" w="0">
            <a:solidFill>
              <a:srgbClr val="E65A5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229EEA-C689-4EFC-A939-88E1CB0F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8667750"/>
            <a:ext cx="443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Approval log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636A9F-6B1E-4177-8DFE-562A9D9B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144000"/>
            <a:ext cx="4438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Supervisor to head closure.</a:t>
            </a:r>
          </a:p>
        </p:txBody>
      </p:sp>
    </p:spTree>
    <p:extLst>
      <p:ext uri="{BB962C8B-B14F-4D97-AF65-F5344CB8AC3E}">
        <p14:creationId xmlns:p14="http://schemas.microsoft.com/office/powerpoint/2010/main" val="7196994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6B7192-CA05-48F6-B86F-406C2EE8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63CDE-6F93-41BE-A4D3-48478C99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APPROVAL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3D3FB-7ACE-4FC8-B53C-D949C143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8684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Review moves upward only when field evidence is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5A129-2685-4580-91AA-CB22FC7E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13157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Any rejection routes the same work order back to the technician for correction.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6DF5D-B758-4C7B-9C56-3270E8CC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690938" cy="2057400"/>
          </a:xfrm>
          <a:prstGeom xmlns:a="http://schemas.openxmlformats.org/drawingml/2006/main" prst="roundRect">
            <a:avLst>
              <a:gd name="adj" fmla="val 1018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5E632-2F91-4F4B-BF06-86B2BB75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ECF5B-7082-4794-A1EE-F7D22E42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3D096-9ABA-4D24-8CFB-A30EF936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9600"/>
            <a:ext cx="2419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Technician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BD801-79E5-467C-A337-F416F516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323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Completes checks, notes, photos.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63B8D-FB0D-4F91-83B8-6F5E4EB2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10050"/>
            <a:ext cx="32385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98943-9061-445F-BC4A-4BA37B2B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788" y="4210050"/>
            <a:ext cx="3690938" cy="2057400"/>
          </a:xfrm>
          <a:prstGeom xmlns:a="http://schemas.openxmlformats.org/drawingml/2006/main" prst="roundRect">
            <a:avLst>
              <a:gd name="adj" fmla="val 1018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90497-6F71-4839-BFDA-068C720A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388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D0F1F-025C-4402-80D8-D1B3F6A8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41D7D-27F0-4432-8C3D-22619595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2419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Supervisor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12BAD-925F-42BA-9A2D-B9C8AA33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29200"/>
            <a:ext cx="323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Validates field report quality.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C7768-150D-45C8-8EC1-CB8B0C8D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10050"/>
            <a:ext cx="32385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FD989-BAC9-42E4-99B5-FF6CF1D9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10050"/>
            <a:ext cx="3690938" cy="2057400"/>
          </a:xfrm>
          <a:prstGeom xmlns:a="http://schemas.openxmlformats.org/drawingml/2006/main" prst="roundRect">
            <a:avLst>
              <a:gd name="adj" fmla="val 1018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657B7-E018-4FCA-88E9-CF14F640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C97AD-95B5-4BA0-813B-24ED23ED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6BCB59-FF20-4E3C-A439-E2416BCD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19600"/>
            <a:ext cx="2419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Manager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F26DE-F78E-46A4-87B1-98E754C5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29200"/>
            <a:ext cx="323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Approves completed work.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6CD47-66FA-4B19-B153-57794840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4210050"/>
            <a:ext cx="32385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E04178-0BD9-420B-A8F3-734E3F95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0763" y="4210050"/>
            <a:ext cx="3690938" cy="2057400"/>
          </a:xfrm>
          <a:prstGeom xmlns:a="http://schemas.openxmlformats.org/drawingml/2006/main" prst="roundRect">
            <a:avLst>
              <a:gd name="adj" fmla="val 1018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63056-8FA5-4F9D-B40A-227C880E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363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B90D55-5298-45D1-B343-4EDB1B3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1CF780-D77F-4CE2-9475-664275A7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419600"/>
            <a:ext cx="2419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Head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B4644-F228-4F2F-A4C5-185EB45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029200"/>
            <a:ext cx="323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Final closure approval.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5B2C75-A3B7-4966-A36A-1D8A3982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15100"/>
            <a:ext cx="16535400" cy="2647950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711342-08AE-4EFC-8CAD-5B2BFD97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80085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Correction loop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DD400A-09BB-43CE-9DCA-41A3632F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425690"/>
            <a:ext cx="4813300" cy="1447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B41D98-AA1D-4FB6-AFDD-EE81340B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597140"/>
            <a:ext cx="1714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A5A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94B02D-2E2E-40E2-A3E5-3A64AC54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600950"/>
            <a:ext cx="4057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Reject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AFEEE0-E538-4C4C-AA0A-04F86F25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039100"/>
            <a:ext cx="4057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Supervisor, manager, or head sends work back.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0FB320-67B9-4747-B0C4-ABAFB8B3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429500"/>
            <a:ext cx="381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8333B2-C489-4952-B9DA-B8AB6F80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7350" y="7425690"/>
            <a:ext cx="4813300" cy="1447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FE9152-164E-430D-ABA3-859C7018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900" y="7597140"/>
            <a:ext cx="1714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B09EF2-11FE-48EC-A4B6-FBDB522E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00950"/>
            <a:ext cx="4057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In Field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B5293A-F85E-4BA6-A241-57424144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039100"/>
            <a:ext cx="4057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Technician corrects the same record.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4E671F-591A-4000-A88E-EB9F9F38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429500"/>
            <a:ext cx="381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CA0B3"/>
                </a:solidFill>
              </a:defRPr>
            </a:pPr>
            <a:r>
              <a:rPr sz="3000" b="1">
                <a:solidFill>
                  <a:srgbClr val="8CA0B3"/>
                </a:solidFill>
              </a:rP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F7489E-02FA-42E4-8596-AB7F7049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550" y="7425690"/>
            <a:ext cx="4813300" cy="14478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DFE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7A0CE0-9699-49EA-BA32-463A4B7C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4100" y="7597140"/>
            <a:ext cx="1714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F3412C-37BE-4CE0-B194-2BA08DD9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7600950"/>
            <a:ext cx="4057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Resubmit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2DCD52-2F57-4CED-94E2-E658CFC4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8039100"/>
            <a:ext cx="4057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Approval restarts with full evidence trail.</a:t>
            </a:r>
          </a:p>
        </p:txBody>
      </p:sp>
    </p:spTree>
    <p:extLst>
      <p:ext uri="{BB962C8B-B14F-4D97-AF65-F5344CB8AC3E}">
        <p14:creationId xmlns:p14="http://schemas.microsoft.com/office/powerpoint/2010/main" val="1114871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301363-1746-4120-9E7A-E0F6E374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248C7-DA9C-4C73-B9FA-AE7B55FC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MOBILE FIELD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2A042-2DF7-4537-B104-5E6B6F06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8874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Technician evidence is captured on the work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5C0D8-CDBD-4FD1-BA48-0E628EE5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07632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The field path stays simple: arrive, check, photograph, recommend, submit.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1B21D-0BEC-4DA6-A579-1CB1B33F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7099554" cy="55245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2008D-6912-4D2A-80FE-95D6B39C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6457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Technician mobile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45AD8-C0C4-4F16-B3C5-331C8C54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6457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05D0A-4546-435A-B4E0-ED43DBA5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33060"/>
            <a:ext cx="1714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43C64-A2D6-4134-932F-00D76051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6134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Arrival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A3CDB-85CF-46CA-A3EF-24A68492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91200"/>
            <a:ext cx="6134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677A"/>
                </a:solidFill>
              </a:defRPr>
            </a:pPr>
            <a:r>
              <a:rPr sz="1725">
                <a:solidFill>
                  <a:srgbClr val="56677A"/>
                </a:solidFill>
              </a:rPr>
              <a:t>site, time, technician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43171-85B5-41F6-93E0-23EBD0E1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252210"/>
            <a:ext cx="1714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71AB0-D2E1-45F3-81C2-83FF2C0E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48400"/>
            <a:ext cx="6134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0AE05-11B4-47D4-94FA-A40DDAB5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10350"/>
            <a:ext cx="6134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677A"/>
                </a:solidFill>
              </a:defRPr>
            </a:pPr>
            <a:r>
              <a:rPr sz="1725">
                <a:solidFill>
                  <a:srgbClr val="56677A"/>
                </a:solidFill>
              </a:rPr>
              <a:t>pass/fail, measured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DAD70-5CC0-458B-9661-97363E03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71360"/>
            <a:ext cx="1714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ED9E7-E55F-431A-B7B0-EC4BB7AE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067550"/>
            <a:ext cx="6134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Photos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0BF55-14D9-4ABA-8EE5-9A895970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429500"/>
            <a:ext cx="6134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677A"/>
                </a:solidFill>
              </a:defRPr>
            </a:pPr>
            <a:r>
              <a:rPr sz="1725">
                <a:solidFill>
                  <a:srgbClr val="56677A"/>
                </a:solidFill>
              </a:rPr>
              <a:t>private file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D5574-6181-4920-B1D2-ABC04BCD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890510"/>
            <a:ext cx="1714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3771EA-8CAE-464B-BA96-0AD23E48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86700"/>
            <a:ext cx="6134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Recommendation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101FA-08BE-4115-B35D-8A3900E0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248650"/>
            <a:ext cx="6134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677A"/>
                </a:solidFill>
              </a:defRPr>
            </a:pPr>
            <a:r>
              <a:rPr sz="1725">
                <a:solidFill>
                  <a:srgbClr val="56677A"/>
                </a:solidFill>
              </a:rPr>
              <a:t>repair, monitor, close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96A51-FD95-462A-A82A-5632CE12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709660"/>
            <a:ext cx="1714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09EE0-FDC5-43A4-8F30-2B0B849B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705850"/>
            <a:ext cx="6134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Submit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FA076-BF4F-46E5-ACCA-F2CB4C7C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067800"/>
            <a:ext cx="6134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677A"/>
                </a:solidFill>
              </a:defRPr>
            </a:pPr>
            <a:r>
              <a:rPr sz="1725">
                <a:solidFill>
                  <a:srgbClr val="56677A"/>
                </a:solidFill>
              </a:rPr>
              <a:t>send to supervisor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6DCEF9-0E25-4A14-9CBF-97E07532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210050"/>
            <a:ext cx="4413123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F90B2-06B2-4553-B9F0-5DD6386D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604" y="44577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281C91-9F17-4026-92F1-C8AAD6B2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339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43514A-0D8C-49A5-8EED-D96B2360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57700"/>
            <a:ext cx="2990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Arrive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817D5-B835-49BD-AAF8-C496B933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24450"/>
            <a:ext cx="3886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Start field record.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EBF5AF-A4D6-4AE3-A242-FE3B63D1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577" y="4210050"/>
            <a:ext cx="4413123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DC3099-980F-4C43-8B6B-7B86B2E0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5277" y="44577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5FFE29-B54C-48C4-85F2-E6039074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45339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528005-158A-44BD-BEFA-C1689503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4457700"/>
            <a:ext cx="2990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Inspect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36E3CE-95F9-4B2F-86BF-65FB2FC1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124450"/>
            <a:ext cx="3886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Complete checks.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9B94E9-84F1-430F-A867-B6D34CD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6343650"/>
            <a:ext cx="4413123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C40EA4-B081-4A5F-B88E-B81FA4F2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604" y="65913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D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EFD407-1ACD-414A-B234-76288602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6675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8F3FBB-2D56-4B06-976F-922F9918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591300"/>
            <a:ext cx="2990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Attach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0CE779-8A93-4CEF-8303-2AF5580B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258050"/>
            <a:ext cx="3886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Upload photos.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ADEE18-653E-4C79-9514-21DA0887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577" y="6343650"/>
            <a:ext cx="4413123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069CB1-C17C-4B53-A724-DB43E06D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5277" y="65913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7C91D6-A108-4F4E-9116-BDC15F77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66675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2288E0-CE64-4D94-BBC4-B89EC629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591300"/>
            <a:ext cx="2990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Submit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74C9C0-11DD-4A27-B24D-4BD03E07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7258050"/>
            <a:ext cx="3886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Route for review.</a:t>
            </a:r>
          </a:p>
        </p:txBody>
      </p:sp>
    </p:spTree>
    <p:extLst>
      <p:ext uri="{BB962C8B-B14F-4D97-AF65-F5344CB8AC3E}">
        <p14:creationId xmlns:p14="http://schemas.microsoft.com/office/powerpoint/2010/main" val="19045642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202502-F439-44B8-8871-46373966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FE240-E04B-428A-BA99-72A98799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DEPLOYMENT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82200-81AD-4833-BE76-38E6D6F2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9065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Free Frappe Cloud proves workflow; private bench unlocks production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CA47F-FB21-4130-97B1-1FD39DD5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2778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Keep the free proof of concept (POC) for review while preparing the custom app path for real integration and release ownership.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7AD7F-6186-4F2B-A114-F0D75220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8086725" cy="4610100"/>
          </a:xfrm>
          <a:prstGeom xmlns:a="http://schemas.openxmlformats.org/drawingml/2006/main" prst="roundRect">
            <a:avLst>
              <a:gd name="adj" fmla="val 578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D6156-B231-4539-8EE8-E1063762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7372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Free Frappe Cloud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90CC8-D503-4051-8B90-A3A37F4C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684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0DA1A-DF92-4475-B079-75532B84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5780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F9F19-443B-4BB1-9865-8F1C1FA6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00650"/>
            <a:ext cx="659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Workflow walkthrough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B8790-E014-4565-B6F1-583C419D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60070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Roles, DocTypes, workflow actions, reports.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649F7-E671-4F53-8B12-1B05F044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0362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665D0-05F9-4EE0-9621-29E9EA77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7220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54676-F919-442B-8D35-50BE10CE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096000"/>
            <a:ext cx="659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REST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13B08-6DE8-45DA-95AD-224A40E6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51510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Ticket, work order, link update, file upload.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C968F-FB4E-4AFF-8344-5261E1E6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1040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9DBF4-0A87-43BB-8A3F-E1D6F18A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8660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DBDB6-5BCF-4CAE-9A07-5D6E17F7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010400"/>
            <a:ext cx="659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Stakeholder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F9E3C-7F53-4443-B230-21B1E506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42950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Confirm fit before pilot investment.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CB900-FC60-4704-B703-CA6FD112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210050"/>
            <a:ext cx="8086725" cy="4610100"/>
          </a:xfrm>
          <a:prstGeom xmlns:a="http://schemas.openxmlformats.org/drawingml/2006/main" prst="roundRect">
            <a:avLst>
              <a:gd name="adj" fmla="val 578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B7188-F0B5-44DA-A857-A60BC63B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52950"/>
            <a:ext cx="7372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Private bench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D105B-5ECD-4A93-9A9B-1EDC4F2F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19684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5AD38-789F-4C0C-8707-95829211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5780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E7725-57CA-4AC1-B1FD-2856DE5B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00650"/>
            <a:ext cx="659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Custom app install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692C90-3452-463F-BDFD-9AF45CEB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0070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DocTypes, fixtures, workflow, hooks.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4A16B5-9B89-43AC-B0CD-07B64205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610362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2CF591-5D41-46A4-8B27-F45E4B99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7220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6411A-4D03-4C43-8F36-A614D382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0"/>
            <a:ext cx="659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Server controls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B28888-B44F-4044-888E-E23E3AFF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Idempotent endpoint and validation gates.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A4D45A-7D7D-4265-B7DE-E447A620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010400"/>
            <a:ext cx="6096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C1AEA9-DAB1-467F-BAD5-35B803B5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08660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E0AA0E-75C8-454C-9C14-9CB68129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010400"/>
            <a:ext cx="659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Production readiness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A8F8F4-8D8C-4BE4-A8FE-C7877AB9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429500"/>
            <a:ext cx="6591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</a:defRPr>
            </a:pPr>
            <a:r>
              <a:rPr sz="1875">
                <a:solidFill>
                  <a:srgbClr val="56677A"/>
                </a:solidFill>
              </a:rPr>
              <a:t>Security, backups, monitoring, rollback.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8E9D6B-125D-4C29-B62C-BE475ADE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987CE8-3699-4662-9854-C7F62490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WORKFLOW PROOF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F491FE-8165-4A2E-834F-93211B42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68CF5D-80F6-4DE5-ADCD-CB980331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SERVER CONTROL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4D5520-2525-44E5-8095-9FACAB2F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4308CA-D0EB-4B05-ACAD-62D2FEF3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SECURITY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CFEF6E-7BD9-4BA2-8E4B-281CF794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4C655B-893D-462A-9997-6571F4E1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ROLLBACK</a:t>
            </a:r>
          </a:p>
        </p:txBody>
      </p:sp>
    </p:spTree>
    <p:extLst>
      <p:ext uri="{BB962C8B-B14F-4D97-AF65-F5344CB8AC3E}">
        <p14:creationId xmlns:p14="http://schemas.microsoft.com/office/powerpoint/2010/main" val="15779737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BB88E5-C8EB-4527-B4DA-E7CD05FF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595E6-297C-4E97-9DA3-9211586A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58F74-6658-419D-9BA0-20F1EB8B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45161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proof of concept (POC) blocks weak submissions and duplicate alarm intake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73BD5-1E5B-4E42-93C9-6DC1EBE2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9255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The app now protects the most likely operational failure modes before this becomes a production replacement.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D5345-6734-4B98-A9F2-8F4000AF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53340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FBAA0-90C0-418C-947D-24EF3BB6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7"/>
          </a:solidFill>
          <a:ln xmlns:a="http://schemas.openxmlformats.org/drawingml/2006/main" w="0">
            <a:solidFill>
              <a:srgbClr val="2474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1CF0F-B425-485A-8D67-B0D044B4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Alarm idempotency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1FE4E-6DE5-49DD-B949-F8D415F4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4800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Duplicate alarm IDs return the same ticket and work order.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9778D-CB02-4454-A2F6-87DE72EA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53340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0417F-4788-42C6-9FC6-661CAFD8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FD1AA-D41F-412B-AF4E-EE6361E4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Partial retry repair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4FA68-0863-422B-B4FC-6112387F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4800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Missing ticket-to-work-order links are recreated safely.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2D505-C112-4765-9E36-E07185B8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210050"/>
            <a:ext cx="53340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407DD-61DE-4566-9089-1A9E2936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3815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8"/>
          </a:solidFill>
          <a:ln xmlns:a="http://schemas.openxmlformats.org/drawingml/2006/main" w="0">
            <a:solidFill>
              <a:srgbClr val="2EAD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6450D-B788-48F2-A27A-EE6ECAE3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51485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Field report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17BD0-50BD-4971-AE40-9AC75C8F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933950"/>
            <a:ext cx="4800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Approvals require checks, notes, photos, and recommendation.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E6746-96F4-4319-BA1A-098FC01C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29400"/>
            <a:ext cx="53340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43E26-73B7-4ED6-95ED-68652AEC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0085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6C7"/>
          </a:solidFill>
          <a:ln xmlns:a="http://schemas.openxmlformats.org/drawingml/2006/main" w="0">
            <a:solidFill>
              <a:srgbClr val="6656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A27AB-54A9-42A8-A13C-C03D3BA1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3420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Timestamp sanity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8294E-FBC5-42FD-8DAD-8C20B530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353300"/>
            <a:ext cx="4800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Completion time cannot be earlier than arrival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56993-E7C7-46A8-9F9C-DC11E800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629400"/>
            <a:ext cx="53340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8CDBE-76DD-4432-BCB6-4F1C37A5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80085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D"/>
          </a:solidFill>
          <a:ln xmlns:a="http://schemas.openxmlformats.org/drawingml/2006/main" w="0">
            <a:solidFill>
              <a:srgbClr val="F2B1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831C3-0C9D-4A1C-8773-6499766C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93420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Rejection 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3F9677-8E15-4516-B045-62AC72FC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353300"/>
            <a:ext cx="4800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Supervisor, manager, or head sends work back to In Field.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B0B99-4AE5-4568-8D8B-F0C87D2F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629400"/>
            <a:ext cx="53340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81DC9F-639E-435F-BA95-45270763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80085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5A"/>
          </a:solidFill>
          <a:ln xmlns:a="http://schemas.openxmlformats.org/drawingml/2006/main" w="0">
            <a:solidFill>
              <a:srgbClr val="E65A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F32110-1DB0-400E-BB25-15422ADB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934200"/>
            <a:ext cx="480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Audit posture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F398FB-D437-4C88-AE41-792A7A36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353300"/>
            <a:ext cx="4800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Records, files, comments, versions, and workflow state remain inspectable.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69B6DC-3881-4F5D-999C-F545968E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09F01E-4545-48E6-9F42-BFFD8DC3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IDEMPOTENCY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CF26F1-CC54-4BB5-820A-1E5B9D70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B1F8CC-7D7D-44EB-896F-E8BB1035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EVIDENCE 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515150-148A-45B7-B587-DBCA596F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2A9FFB-1AF3-463C-BD48-5CA848B2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REJECTION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617D62-856E-4494-900A-58A028A8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50C7A6-A7EF-4798-9EEE-8E14883C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AUDIT TRAIL</a:t>
            </a:r>
          </a:p>
        </p:txBody>
      </p:sp>
    </p:spTree>
    <p:extLst>
      <p:ext uri="{BB962C8B-B14F-4D97-AF65-F5344CB8AC3E}">
        <p14:creationId xmlns:p14="http://schemas.microsoft.com/office/powerpoint/2010/main" val="10391009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92EBEB-8E59-44DF-9ABC-30075E6C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BE8E6-EF0B-45C6-B1B4-0C9D3A48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OPERATIONAL 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237A7-E557-4709-887C-5CCA8FD5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5445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Leaders see queues, evidence gaps, and approval aging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3F797-8F5A-432A-B340-4B104ECF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27254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The proof of concept (POC) supports dashboard views without moving work back to JIRA.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4938D-6491-42CF-A341-68409FA3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5334000" cy="5524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0158D-7889-4A9F-B7B6-1B03D557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2095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B1BB6-61FA-4006-B026-D1B68F1D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95800"/>
            <a:ext cx="4381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Dispatch queue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43B47-DF43-4B90-BC67-7774FB31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91150"/>
            <a:ext cx="47625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CC46A-ADA2-4260-9A03-26B7BC23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388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462D4-3C25-450D-9244-C512617C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180F5-A812-49DF-93E3-FBCB2797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38800"/>
            <a:ext cx="3333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Open alarms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C1154-8669-4BC4-80A7-D8C42A27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05550"/>
            <a:ext cx="422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Needs assignment.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BBD5F-58FE-44A3-903F-20FFD094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524750"/>
            <a:ext cx="47625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41ADC-D34F-43BD-A27C-2F3464D1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724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C235F-BBD6-48B5-B573-4E1BAF72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486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EECA8-D6E1-4938-8D4D-BDABE37B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7772400"/>
            <a:ext cx="3333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In field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84BFA-BEEE-4DC4-AEEF-7BFBD883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439150"/>
            <a:ext cx="422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Technician active.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AE9DA-A194-4695-BE13-5D2C349E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5334000" cy="5524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7E765-8007-45F6-9CC2-D0E5FED2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2095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737C4-7063-412F-ACEA-9E881C8B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95800"/>
            <a:ext cx="4381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Evidence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E3240-D5F9-47A7-8C54-19C5CB56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47625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04352-1813-4469-8488-2128854B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388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DF72B3-E6E2-4FF0-92E5-A252BAD1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7150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81338-4AB4-4732-91E0-E859E126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38800"/>
            <a:ext cx="3333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Submitted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97C27-650C-4A54-A961-A1855700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305550"/>
            <a:ext cx="422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Supervisor check.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CB6F4-5774-4771-AE28-08453363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7524750"/>
            <a:ext cx="47625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55F764-0A57-401A-AFE4-2B71078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7724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D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6FE74-6A0A-4CD5-B23B-AD724B35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8486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027480-9E13-4AC8-A684-6F0AC8FC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7772400"/>
            <a:ext cx="3333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Missing proof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56AD27-C9B4-414F-B3BE-C2F406E1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8439150"/>
            <a:ext cx="422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Photos or notes gap.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48024E-BC11-47C3-AC92-5A683456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210050"/>
            <a:ext cx="5334000" cy="5524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1C8B06-C891-49BB-8035-7B786ACD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495800"/>
            <a:ext cx="2095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16921D-FDD6-4F01-BE0B-95562A2E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495800"/>
            <a:ext cx="4381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Approvals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4F8307-48A3-4CA8-8DF8-2ACB4D1D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391150"/>
            <a:ext cx="47625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4C14FA-67B4-4DED-8DA7-556FE035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6388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D15CD8-ED26-4ABA-BC47-D8999732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7150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252D4C-21A0-4951-BDE3-6A489785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38800"/>
            <a:ext cx="3333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Manager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861A05-2FEA-40F6-B51E-056FD799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305550"/>
            <a:ext cx="422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Decision pending.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ED3E75-1648-4B56-A155-0E765B23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524750"/>
            <a:ext cx="476250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7672A6-D3BB-4F9B-B63B-73D98572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7772400"/>
            <a:ext cx="7239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E966E4-00D1-4F1A-93A6-91878EFB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7848600"/>
            <a:ext cx="72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37FE7B-A6E7-4EC5-BD10-7116B021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772400"/>
            <a:ext cx="3333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Head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8EA2E1-B6A5-4C73-A21B-529A09BD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439150"/>
            <a:ext cx="422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6677A"/>
                </a:solidFill>
              </a:defRPr>
            </a:pPr>
            <a:r>
              <a:rPr sz="2175">
                <a:solidFill>
                  <a:srgbClr val="56677A"/>
                </a:solidFill>
              </a:rPr>
              <a:t>Final closure.</a:t>
            </a:r>
          </a:p>
        </p:txBody>
      </p:sp>
    </p:spTree>
    <p:extLst>
      <p:ext uri="{BB962C8B-B14F-4D97-AF65-F5344CB8AC3E}">
        <p14:creationId xmlns:p14="http://schemas.microsoft.com/office/powerpoint/2010/main" val="18149744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0D12D9-93BB-4E3C-8D92-9D53DD26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64B33-FA2B-4512-A15B-90D9C059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PILOT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3C9FB-6D0E-4FD2-9F53-80FDF52F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40779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Four decisions turn the free proof of concept (POC) into a controlled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382E8-4134-4475-800D-4A8288D2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8874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2775">
                <a:solidFill>
                  <a:srgbClr val="56677A"/>
                </a:solidFill>
                <a:latin typeface="Aptos"/>
                <a:ea typeface="Aptos"/>
                <a:cs typeface="Aptos"/>
              </a:rPr>
              <a:t>The next sprint should validate the integration contract and real user workflow before production cutover.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CE81F-5897-4133-B95F-028005B9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9624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E60CA-8350-41ED-B5C0-9CF6DD48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19D6A-39B8-402A-9FEE-E178AD4C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E67ED-C69D-418C-88D2-28A6BBA8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9600"/>
            <a:ext cx="268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Lock payload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7482D-9C33-4245-8FC5-431FC07C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3505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Alarm fields, retry behavior, priority mapping, error response. Output: integration contract.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C02EC-ACC8-4356-9508-7CD5CC92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10050"/>
            <a:ext cx="39624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1352A-7C7B-4AD7-B867-DB6BEB5E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388A3-0116-40A8-8D35-A7B3DCA5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987C8-5781-4E54-8D82-8B654066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19600"/>
            <a:ext cx="268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Run 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8B1BA-6244-4968-BA65-783B7D65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029200"/>
            <a:ext cx="3505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Dispatcher, technician, supervisor, manager, head approval. Output: role signoff.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28E78-5B8F-4FCA-BBA7-C69CDC7F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10050"/>
            <a:ext cx="39624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9A429-893D-41DC-9116-C9FB57EA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6C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AF60E-9A7C-4B26-B278-322CAB0F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C6933-7953-4EFE-B5E3-A6238D41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419600"/>
            <a:ext cx="268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Private bench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703033-630B-4905-B6C3-4D01349C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29200"/>
            <a:ext cx="3505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Install app, endpoint, hooks, fixtures, migrations. Output: controlled release path.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21F506-FB19-446B-B542-857D9445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4210050"/>
            <a:ext cx="39624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4D17C-B3FC-4505-A5B2-40EC3921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419600"/>
            <a:ext cx="666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AD6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67853-662F-4178-981B-49DAA8DE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4958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E9146F-07D2-4C9C-93C0-9A9D3A59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4419600"/>
            <a:ext cx="268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Cutover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E85E3A-1CF7-4BA3-AB11-451925DE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5029200"/>
            <a:ext cx="3505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6677A"/>
                </a:solidFill>
              </a:defRPr>
            </a:pPr>
            <a:r>
              <a:rPr sz="1950">
                <a:solidFill>
                  <a:srgbClr val="56677A"/>
                </a:solidFill>
              </a:rPr>
              <a:t>Map statuses, migrate open work, monitor rollback. Output: go-live checklist.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202847-22B4-4338-981D-47442FBE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2915D4-D870-4C1A-8CD4-9A591103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CONTRACT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8E647-5FFA-4BD6-ABEF-C3914E5D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E9C3C4-79FC-446F-A571-A735B7D9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UAT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AC2E2D-E41F-45CB-B220-F7A4F4E1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9C3359-DF51-4EBF-88A7-E953D386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BENCH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B8460A-C2D5-4908-B38A-3034E49C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010650"/>
            <a:ext cx="401955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0DD190-9EB5-4E20-91B9-44F7A0EB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163050"/>
            <a:ext cx="375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CUTOVER</a:t>
            </a:r>
          </a:p>
        </p:txBody>
      </p:sp>
    </p:spTree>
    <p:extLst>
      <p:ext uri="{BB962C8B-B14F-4D97-AF65-F5344CB8AC3E}">
        <p14:creationId xmlns:p14="http://schemas.microsoft.com/office/powerpoint/2010/main" val="7131056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64AC1E-F5F5-4630-A51B-5C922BB5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3C2C3-BD62-43E5-B139-36DA9221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73533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Decision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25729-BA7F-487D-9D63-3EE400B5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73150-3D32-42F2-B194-8095C875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6294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56677A"/>
                </a:solidFill>
              </a:defRPr>
            </a:pPr>
            <a:r>
              <a:rPr sz="2550">
                <a:solidFill>
                  <a:srgbClr val="56677A"/>
                </a:solidFill>
              </a:rPr>
              <a:t>Approve the pilot-readiness sprint so the team can move from working proof of concept (POC) to production-safe replacement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3756D-4330-438E-8A35-A137A8E2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349119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3AEF9-5AB6-44F5-8AF2-62C91A5E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2076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B8248-F754-4192-AB91-B3E8E6EA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819" y="3505200"/>
            <a:ext cx="2349119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E56DE-3B1B-4412-B2B6-E3570254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57600"/>
            <a:ext cx="2076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UAT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0766E-1763-4C11-A298-1A94EBB9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338" y="3505200"/>
            <a:ext cx="2349119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8B826-B309-44C0-9CFB-0E7A3D79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2076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CUTOVER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03D26-24FE-400B-B5CD-E7D89F83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7352157" cy="1257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00272-D43E-4F37-A26A-8CF2F033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D81BA-FA3F-47BE-9CEE-2734327B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6896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11398-2A00-4A83-9937-E18B33E1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6896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6677A"/>
                </a:solidFill>
              </a:defRPr>
            </a:pPr>
            <a:r>
              <a:rPr sz="1800">
                <a:solidFill>
                  <a:srgbClr val="56677A"/>
                </a:solidFill>
              </a:rPr>
              <a:t>Frappe Framework path ready for controlled production hardening.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739DB-76D2-480E-9F79-6CDF7B8F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907" y="552450"/>
            <a:ext cx="8630793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C5F6F-1FF4-4FB3-8797-DC328626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239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7"/>
          </a:solidFill>
          <a:ln xmlns:a="http://schemas.openxmlformats.org/drawingml/2006/main" w="0">
            <a:solidFill>
              <a:srgbClr val="2474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04C2D-A7F1-41AC-ACC6-D13D5604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857250"/>
            <a:ext cx="809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Confirm integration contract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547CF-91BD-409B-8EB4-1AC3FAFE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7635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Finalize payload, idempotency, error handling, and priority rules.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7F0DA-8144-43C9-8359-B7B4ABED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907" y="2705100"/>
            <a:ext cx="8630793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67AC9-3F71-496B-8966-5596CD80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7655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8"/>
          </a:solidFill>
          <a:ln xmlns:a="http://schemas.openxmlformats.org/drawingml/2006/main" w="0">
            <a:solidFill>
              <a:srgbClr val="2EAD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72854-AFCB-4B79-9203-77854853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809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Validate with real roles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00DF6-3A6F-4F47-8C46-F1B97881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Run mobile field reports, photos, rejection, and approval checks.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B7CDE-FA27-4770-9B85-AB229418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907" y="4857750"/>
            <a:ext cx="8630793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B3928-6DE9-458A-84C4-9A2B4CAC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292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6C7"/>
          </a:solidFill>
          <a:ln xmlns:a="http://schemas.openxmlformats.org/drawingml/2006/main" w="0">
            <a:solidFill>
              <a:srgbClr val="6656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B6BDC-7F2E-4B40-8C84-D3356A6F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62550"/>
            <a:ext cx="809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Prepare private bench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D77B9B-11D5-4246-8BF7-75856004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8165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77A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6677A"/>
                </a:solidFill>
                <a:latin typeface="Aptos"/>
                <a:ea typeface="Aptos"/>
                <a:cs typeface="Aptos"/>
              </a:rPr>
              <a:t>Enable custom app install, security cleanup, migration, and cutover.</a:t>
            </a:r>
          </a:p>
        </p:txBody>
      </p:sp>
    </p:spTree>
    <p:extLst>
      <p:ext uri="{BB962C8B-B14F-4D97-AF65-F5344CB8AC3E}">
        <p14:creationId xmlns:p14="http://schemas.microsoft.com/office/powerpoint/2010/main" val="94508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2026-05-04T05:44:41.3200000Z</dcterms:created>
  <dcterms:modified xsi:type="dcterms:W3CDTF">2026-05-04T05:44:41.3200000Z</dcterms:modified>
</coreProperties>
</file>